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notesMasterIdLst>
    <p:notesMasterId r:id="rId10"/>
  </p:notesMasterIdLst>
  <p:handoutMasterIdLst>
    <p:handoutMasterId r:id="rId11"/>
  </p:handoutMasterIdLst>
  <p:sldIdLst>
    <p:sldId id="353" r:id="rId2"/>
    <p:sldId id="363" r:id="rId3"/>
    <p:sldId id="284" r:id="rId4"/>
    <p:sldId id="325" r:id="rId5"/>
    <p:sldId id="361" r:id="rId6"/>
    <p:sldId id="362" r:id="rId7"/>
    <p:sldId id="265" r:id="rId8"/>
    <p:sldId id="339" r:id="rId9"/>
  </p:sldIdLst>
  <p:sldSz cx="9144000" cy="6858000" type="screen4x3"/>
  <p:notesSz cx="6858000" cy="9144000"/>
  <p:defaultTex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7">
          <p15:clr>
            <a:srgbClr val="A4A3A4"/>
          </p15:clr>
        </p15:guide>
        <p15:guide id="3" orient="horz" pos="3834">
          <p15:clr>
            <a:srgbClr val="A4A3A4"/>
          </p15:clr>
        </p15:guide>
        <p15:guide id="4" orient="horz" pos="1065">
          <p15:clr>
            <a:srgbClr val="A4A3A4"/>
          </p15:clr>
        </p15:guide>
        <p15:guide id="5" orient="horz" pos="777">
          <p15:clr>
            <a:srgbClr val="A4A3A4"/>
          </p15:clr>
        </p15:guide>
        <p15:guide id="6" pos="5556">
          <p15:clr>
            <a:srgbClr val="A4A3A4"/>
          </p15:clr>
        </p15:guide>
        <p15:guide id="7" pos="206">
          <p15:clr>
            <a:srgbClr val="A4A3A4"/>
          </p15:clr>
        </p15:guide>
        <p15:guide id="8" pos="288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5050"/>
    <a:srgbClr val="003283"/>
    <a:srgbClr val="FF0000"/>
    <a:srgbClr val="666666"/>
    <a:srgbClr val="2B3F7B"/>
    <a:srgbClr val="9C277B"/>
    <a:srgbClr val="D4652D"/>
    <a:srgbClr val="9E303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704" autoAdjust="0"/>
  </p:normalViewPr>
  <p:slideViewPr>
    <p:cSldViewPr snapToGrid="0" showGuides="1">
      <p:cViewPr varScale="1">
        <p:scale>
          <a:sx n="115" d="100"/>
          <a:sy n="115" d="100"/>
        </p:scale>
        <p:origin x="120" y="114"/>
      </p:cViewPr>
      <p:guideLst>
        <p:guide orient="horz" pos="4117"/>
        <p:guide orient="horz" pos="3834"/>
        <p:guide orient="horz" pos="1065"/>
        <p:guide orient="horz" pos="777"/>
        <p:guide pos="5556"/>
        <p:guide pos="206"/>
        <p:guide pos="2886"/>
      </p:guideLst>
    </p:cSldViewPr>
  </p:slid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75" d="100"/>
          <a:sy n="75" d="100"/>
        </p:scale>
        <p:origin x="-4402" y="-56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37806701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49300" y="390525"/>
            <a:ext cx="5359400" cy="401955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750600" y="4706112"/>
            <a:ext cx="5356800" cy="3939264"/>
          </a:xfrm>
          <a:prstGeom prst="rect">
            <a:avLst/>
          </a:prstGeom>
        </p:spPr>
        <p:txBody>
          <a:bodyPr vert="horz" lIns="0" tIns="0" rIns="0" bIns="0" rtlCol="0">
            <a:normAutofit/>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7" name="Slide Number Placeholder 6"/>
          <p:cNvSpPr>
            <a:spLocks noGrp="1"/>
          </p:cNvSpPr>
          <p:nvPr>
            <p:ph type="sldNum" sz="quarter" idx="5"/>
          </p:nvPr>
        </p:nvSpPr>
        <p:spPr>
          <a:xfrm>
            <a:off x="2957512" y="8915402"/>
            <a:ext cx="942976" cy="2053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190874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180975" indent="-180975" algn="l" defTabSz="914400" rtl="0" eaLnBrk="1" latinLnBrk="0" hangingPunct="1">
      <a:buClr>
        <a:schemeClr val="accent1"/>
      </a:buClr>
      <a:buSzPct val="100000"/>
      <a:buFont typeface="Wingdings" pitchFamily="2" charset="2"/>
      <a:buChar char=""/>
      <a:defRPr sz="1100" kern="1200">
        <a:solidFill>
          <a:schemeClr val="tx1"/>
        </a:solidFill>
        <a:latin typeface="+mn-lt"/>
        <a:ea typeface="+mn-ea"/>
        <a:cs typeface="+mn-cs"/>
      </a:defRPr>
    </a:lvl2pPr>
    <a:lvl3pPr marL="357188" indent="-176213" algn="l" defTabSz="914400" rtl="0" eaLnBrk="1" latinLnBrk="0" hangingPunct="1">
      <a:buClr>
        <a:schemeClr val="accent2"/>
      </a:buClr>
      <a:buSzPct val="80000"/>
      <a:buFont typeface="Symbol" pitchFamily="18" charset="2"/>
      <a:buChar char="-"/>
      <a:defRPr sz="1000" kern="1200">
        <a:solidFill>
          <a:schemeClr val="tx1"/>
        </a:solidFill>
        <a:latin typeface="+mn-lt"/>
        <a:ea typeface="+mn-ea"/>
        <a:cs typeface="+mn-cs"/>
      </a:defRPr>
    </a:lvl3pPr>
    <a:lvl4pPr marL="566738" indent="-133350" algn="l" defTabSz="914400" rtl="0" eaLnBrk="1" latinLnBrk="0" hangingPunct="1">
      <a:buClr>
        <a:schemeClr val="accent2"/>
      </a:buClr>
      <a:buFont typeface="Arial" pitchFamily="34" charset="0"/>
      <a:buChar char="–"/>
      <a:defRPr sz="10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1073429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3</a:t>
            </a:fld>
            <a:endParaRPr lang="en-US" dirty="0"/>
          </a:p>
        </p:txBody>
      </p:sp>
    </p:spTree>
    <p:extLst>
      <p:ext uri="{BB962C8B-B14F-4D97-AF65-F5344CB8AC3E}">
        <p14:creationId xmlns:p14="http://schemas.microsoft.com/office/powerpoint/2010/main" val="2185045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4</a:t>
            </a:fld>
            <a:endParaRPr lang="en-US" dirty="0"/>
          </a:p>
        </p:txBody>
      </p:sp>
    </p:spTree>
    <p:extLst>
      <p:ext uri="{BB962C8B-B14F-4D97-AF65-F5344CB8AC3E}">
        <p14:creationId xmlns:p14="http://schemas.microsoft.com/office/powerpoint/2010/main" val="3316514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7</a:t>
            </a:fld>
            <a:endParaRPr lang="en-US" dirty="0"/>
          </a:p>
        </p:txBody>
      </p:sp>
      <p:sp>
        <p:nvSpPr>
          <p:cNvPr id="15" name="Slide Image Placeholder 14"/>
          <p:cNvSpPr>
            <a:spLocks noGrp="1" noRot="1" noChangeAspect="1"/>
          </p:cNvSpPr>
          <p:nvPr>
            <p:ph type="sldImg"/>
          </p:nvPr>
        </p:nvSpPr>
        <p:spPr/>
      </p:sp>
      <p:sp>
        <p:nvSpPr>
          <p:cNvPr id="16" name="Notes Placeholder 15"/>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624681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8</a:t>
            </a:fld>
            <a:endParaRPr lang="en-US" dirty="0"/>
          </a:p>
        </p:txBody>
      </p:sp>
    </p:spTree>
    <p:extLst>
      <p:ext uri="{BB962C8B-B14F-4D97-AF65-F5344CB8AC3E}">
        <p14:creationId xmlns:p14="http://schemas.microsoft.com/office/powerpoint/2010/main" val="25150527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global12.sap.com/corporate-en/legal/copyright/index.epx"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global.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Rectangle 2"/>
          <p:cNvSpPr/>
          <p:nvPr/>
        </p:nvSpPr>
        <p:spPr bwMode="gray">
          <a:xfrm>
            <a:off x="324000" y="-1"/>
            <a:ext cx="8496000" cy="2160000"/>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14000" y="324000"/>
            <a:ext cx="7740000" cy="738000"/>
          </a:xfrm>
        </p:spPr>
        <p:txBody>
          <a:bodyPr anchor="t" anchorCtr="0">
            <a:noAutofit/>
          </a:bodyPr>
          <a:lstStyle>
            <a:lvl1pPr>
              <a:defRPr sz="4800">
                <a:solidFill>
                  <a:schemeClr val="tx1"/>
                </a:solidFill>
              </a:defRPr>
            </a:lvl1pPr>
          </a:lstStyle>
          <a:p>
            <a:r>
              <a:rPr lang="en-US" dirty="0" smtClean="0"/>
              <a:t>Short Presentation Title</a:t>
            </a:r>
            <a:endParaRPr lang="en-US" dirty="0"/>
          </a:p>
        </p:txBody>
      </p:sp>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14000" y="1499870"/>
            <a:ext cx="7740000" cy="492443"/>
          </a:xfrm>
        </p:spPr>
        <p:txBody>
          <a:bodyPr anchor="b"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 SAP (delete if not needed)</a:t>
            </a:r>
            <a:br>
              <a:rPr lang="en-US" dirty="0" smtClean="0"/>
            </a:br>
            <a:r>
              <a:rPr lang="en-US" dirty="0" smtClean="0"/>
              <a:t>Month 00, 2016</a:t>
            </a:r>
          </a:p>
        </p:txBody>
      </p:sp>
      <p:sp>
        <p:nvSpPr>
          <p:cNvPr id="7" name="TextBox 6"/>
          <p:cNvSpPr txBox="1"/>
          <p:nvPr userDrawn="1"/>
        </p:nvSpPr>
        <p:spPr>
          <a:xfrm rot="21360000">
            <a:off x="2896863" y="3808216"/>
            <a:ext cx="335027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dirty="0" smtClean="0">
                <a:solidFill>
                  <a:schemeClr val="tx1"/>
                </a:solidFill>
                <a:ea typeface="Arial Unicode MS" pitchFamily="34" charset="-128"/>
                <a:cs typeface="Arial Unicode MS" pitchFamily="34" charset="-128"/>
              </a:rPr>
              <a:t>Use this title slide only with an</a:t>
            </a:r>
            <a:r>
              <a:rPr lang="en-US" sz="1600" kern="0" baseline="0" dirty="0" smtClean="0">
                <a:solidFill>
                  <a:schemeClr val="tx1"/>
                </a:solidFill>
                <a:ea typeface="Arial Unicode MS" pitchFamily="34" charset="-128"/>
                <a:cs typeface="Arial Unicode MS" pitchFamily="34" charset="-128"/>
              </a:rPr>
              <a:t> image</a:t>
            </a:r>
            <a:endParaRPr lang="en-US" sz="1600" kern="0" dirty="0" smtClean="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51365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Rectangle 2"/>
          <p:cNvSpPr/>
          <p:nvPr/>
        </p:nvSpPr>
        <p:spPr bwMode="gray">
          <a:xfrm>
            <a:off x="324000" y="-1"/>
            <a:ext cx="8496000" cy="2160000"/>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5" name="Rectangle 4"/>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14000" y="1499870"/>
            <a:ext cx="7740000" cy="492443"/>
          </a:xfrm>
        </p:spPr>
        <p:txBody>
          <a:bodyPr anchor="b"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 SAP (delete if not needed)</a:t>
            </a:r>
            <a:br>
              <a:rPr lang="en-US" dirty="0" smtClean="0"/>
            </a:br>
            <a:r>
              <a:rPr lang="en-US" dirty="0" smtClean="0"/>
              <a:t>Month 00, 2016</a:t>
            </a:r>
          </a:p>
        </p:txBody>
      </p:sp>
      <p:sp>
        <p:nvSpPr>
          <p:cNvPr id="9" name="Title 1"/>
          <p:cNvSpPr>
            <a:spLocks noGrp="1"/>
          </p:cNvSpPr>
          <p:nvPr>
            <p:ph type="ctrTitle" hasCustomPrompt="1"/>
          </p:nvPr>
        </p:nvSpPr>
        <p:spPr bwMode="gray">
          <a:xfrm>
            <a:off x="414000" y="324000"/>
            <a:ext cx="7740000" cy="923330"/>
          </a:xfrm>
        </p:spPr>
        <p:txBody>
          <a:bodyPr anchor="t" anchorCtr="0">
            <a:noAutofit/>
          </a:bodyPr>
          <a:lstStyle>
            <a:lvl1pPr>
              <a:defRPr sz="3000">
                <a:solidFill>
                  <a:sysClr val="windowText" lastClr="000000"/>
                </a:solidFill>
                <a:latin typeface="+mj-lt"/>
              </a:defRPr>
            </a:lvl1pPr>
          </a:lstStyle>
          <a:p>
            <a:r>
              <a:rPr lang="en-US" sz="3000" dirty="0" smtClean="0"/>
              <a:t>Alternate Presentation Title</a:t>
            </a:r>
            <a:br>
              <a:rPr lang="en-US" sz="3000" dirty="0" smtClean="0"/>
            </a:br>
            <a:r>
              <a:rPr lang="en-US" sz="3000" dirty="0" smtClean="0"/>
              <a:t>Breaks to Two Lines</a:t>
            </a:r>
            <a:endParaRPr lang="en-US" dirty="0"/>
          </a:p>
        </p:txBody>
      </p:sp>
      <p:sp>
        <p:nvSpPr>
          <p:cNvPr id="10" name="TextBox 9"/>
          <p:cNvSpPr txBox="1"/>
          <p:nvPr/>
        </p:nvSpPr>
        <p:spPr>
          <a:xfrm rot="21360000">
            <a:off x="2896863" y="3808216"/>
            <a:ext cx="335027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dirty="0" smtClean="0">
                <a:solidFill>
                  <a:schemeClr val="tx1"/>
                </a:solidFill>
                <a:ea typeface="Arial Unicode MS" pitchFamily="34" charset="-128"/>
                <a:cs typeface="Arial Unicode MS" pitchFamily="34" charset="-128"/>
              </a:rPr>
              <a:t>Use this title slide only with an</a:t>
            </a:r>
            <a:r>
              <a:rPr lang="en-US" sz="1600" kern="0" baseline="0" dirty="0" smtClean="0">
                <a:solidFill>
                  <a:schemeClr val="tx1"/>
                </a:solidFill>
                <a:ea typeface="Arial Unicode MS" pitchFamily="34" charset="-128"/>
                <a:cs typeface="Arial Unicode MS" pitchFamily="34" charset="-128"/>
              </a:rPr>
              <a:t> image</a:t>
            </a:r>
            <a:endParaRPr lang="en-US" sz="1600" kern="0" dirty="0" smtClean="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039992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000" y="324000"/>
            <a:ext cx="7740000" cy="738000"/>
          </a:xfrm>
        </p:spPr>
        <p:txBody>
          <a:bodyPr anchor="t" anchorCtr="0">
            <a:noAutofit/>
          </a:bodyPr>
          <a:lstStyle>
            <a:lvl1pPr>
              <a:defRPr sz="4800">
                <a:solidFill>
                  <a:schemeClr val="tx1"/>
                </a:solidFill>
              </a:defRPr>
            </a:lvl1pPr>
          </a:lstStyle>
          <a:p>
            <a:r>
              <a:rPr lang="en-US" dirty="0" smtClean="0"/>
              <a:t>Short Presentation Title</a:t>
            </a:r>
            <a:endParaRPr lang="en-US" dirty="0"/>
          </a:p>
        </p:txBody>
      </p:sp>
      <p:sp>
        <p:nvSpPr>
          <p:cNvPr id="6" name="Subtitle 2"/>
          <p:cNvSpPr>
            <a:spLocks noGrp="1"/>
          </p:cNvSpPr>
          <p:nvPr>
            <p:ph type="subTitle" idx="1" hasCustomPrompt="1"/>
          </p:nvPr>
        </p:nvSpPr>
        <p:spPr bwMode="gray">
          <a:xfrm>
            <a:off x="324000" y="1499870"/>
            <a:ext cx="7740000" cy="492443"/>
          </a:xfrm>
        </p:spPr>
        <p:txBody>
          <a:bodyPr anchor="b"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 SAP (delete if not needed)</a:t>
            </a:r>
            <a:br>
              <a:rPr lang="en-US" dirty="0" smtClean="0"/>
            </a:br>
            <a:r>
              <a:rPr lang="en-US" dirty="0" smtClean="0"/>
              <a:t>Month 00, 2016</a:t>
            </a:r>
          </a:p>
        </p:txBody>
      </p:sp>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740277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sp>
        <p:nvSpPr>
          <p:cNvPr id="6" name="Subtitle 2"/>
          <p:cNvSpPr>
            <a:spLocks noGrp="1"/>
          </p:cNvSpPr>
          <p:nvPr>
            <p:ph type="subTitle" idx="1" hasCustomPrompt="1"/>
          </p:nvPr>
        </p:nvSpPr>
        <p:spPr bwMode="gray">
          <a:xfrm>
            <a:off x="324000" y="1499870"/>
            <a:ext cx="7740000" cy="492443"/>
          </a:xfrm>
        </p:spPr>
        <p:txBody>
          <a:bodyPr anchor="b"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 SAP (delete if not needed)</a:t>
            </a:r>
            <a:br>
              <a:rPr lang="en-US" dirty="0" smtClean="0"/>
            </a:br>
            <a:r>
              <a:rPr lang="en-US" dirty="0" smtClean="0"/>
              <a:t>Month 00, 2016</a:t>
            </a:r>
          </a:p>
        </p:txBody>
      </p:sp>
      <p:sp>
        <p:nvSpPr>
          <p:cNvPr id="9" name="Title 1"/>
          <p:cNvSpPr>
            <a:spLocks noGrp="1"/>
          </p:cNvSpPr>
          <p:nvPr>
            <p:ph type="ctrTitle" hasCustomPrompt="1"/>
          </p:nvPr>
        </p:nvSpPr>
        <p:spPr bwMode="gray">
          <a:xfrm>
            <a:off x="324000" y="324000"/>
            <a:ext cx="7740000" cy="923330"/>
          </a:xfrm>
        </p:spPr>
        <p:txBody>
          <a:bodyPr anchor="t" anchorCtr="0">
            <a:noAutofit/>
          </a:bodyPr>
          <a:lstStyle>
            <a:lvl1pPr>
              <a:defRPr sz="3000">
                <a:solidFill>
                  <a:sysClr val="windowText" lastClr="000000"/>
                </a:solidFill>
                <a:latin typeface="+mj-lt"/>
              </a:defRPr>
            </a:lvl1pPr>
          </a:lstStyle>
          <a:p>
            <a:r>
              <a:rPr lang="en-US" sz="3000" dirty="0" smtClean="0"/>
              <a:t>Alternate Presentation Title</a:t>
            </a:r>
            <a:br>
              <a:rPr lang="en-US" sz="3000" dirty="0" smtClean="0"/>
            </a:br>
            <a:r>
              <a:rPr lang="en-US" sz="3000" dirty="0" smtClean="0"/>
              <a:t>Breaks to Two Lines</a:t>
            </a:r>
            <a:endParaRPr lang="en-US" dirty="0"/>
          </a:p>
        </p:txBody>
      </p:sp>
      <p:sp>
        <p:nvSpPr>
          <p:cNvPr id="5" name="Rectangle 4"/>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86368498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sp>
        <p:nvSpPr>
          <p:cNvPr id="9" name="Rectangle 8"/>
          <p:cNvSpPr/>
          <p:nvPr userDrawn="1"/>
        </p:nvSpPr>
        <p:spPr bwMode="gray">
          <a:xfrm>
            <a:off x="324150" y="0"/>
            <a:ext cx="8496000" cy="2295525"/>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en-US" dirty="0" smtClean="0"/>
              <a:t>Divider page</a:t>
            </a:r>
            <a:endParaRPr lang="en-US" dirty="0"/>
          </a:p>
        </p:txBody>
      </p:sp>
      <p:sp>
        <p:nvSpPr>
          <p:cNvPr id="93" name="Text Placeholder 92"/>
          <p:cNvSpPr>
            <a:spLocks noGrp="1"/>
          </p:cNvSpPr>
          <p:nvPr>
            <p:ph type="body" sz="quarter" idx="10" hasCustomPrompt="1"/>
          </p:nvPr>
        </p:nvSpPr>
        <p:spPr>
          <a:xfrm>
            <a:off x="324000" y="3506400"/>
            <a:ext cx="8496300" cy="620713"/>
          </a:xfrm>
        </p:spPr>
        <p:txBody>
          <a:bodyPr/>
          <a:lstStyle>
            <a:lvl1pPr>
              <a:spcBef>
                <a:spcPts val="1200"/>
              </a:spcBef>
              <a:defRPr sz="1600" b="0"/>
            </a:lvl1pPr>
          </a:lstStyle>
          <a:p>
            <a:r>
              <a:rPr lang="en-US" dirty="0" smtClean="0"/>
              <a:t>Subtitle if needed</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627476961"/>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324000" y="162000"/>
            <a:ext cx="8496000" cy="2134800"/>
          </a:xfrm>
          <a:solidFill>
            <a:schemeClr val="bg1">
              <a:lumMod val="95000"/>
            </a:schemeClr>
          </a:solidFill>
        </p:spPr>
        <p:txBody>
          <a:bodyPr tIns="504000" anchor="t" anchorCtr="0"/>
          <a:lstStyle>
            <a:lvl1pPr algn="ctr">
              <a:defRPr b="0"/>
            </a:lvl1pPr>
          </a:lstStyle>
          <a:p>
            <a:r>
              <a:rPr lang="en-US" smtClean="0"/>
              <a:t>Click icon to add picture</a:t>
            </a:r>
            <a:endParaRPr lang="en-US" dirty="0"/>
          </a:p>
        </p:txBody>
      </p:sp>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en-US" dirty="0" smtClean="0"/>
              <a:t>Divider page</a:t>
            </a:r>
            <a:endParaRPr lang="en-US"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6400"/>
            <a:ext cx="8496300" cy="620713"/>
          </a:xfrm>
        </p:spPr>
        <p:txBody>
          <a:bodyPr/>
          <a:lstStyle>
            <a:lvl1pPr>
              <a:spcBef>
                <a:spcPts val="1200"/>
              </a:spcBef>
              <a:defRPr sz="1600" b="0"/>
            </a:lvl1pPr>
          </a:lstStyle>
          <a:p>
            <a:r>
              <a:rPr lang="en-US" dirty="0" smtClean="0"/>
              <a:t>Subtitle if needed</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7817398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ontact / Thank You">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324000" y="2444400"/>
            <a:ext cx="5292000" cy="738664"/>
          </a:xfrm>
        </p:spPr>
        <p:txBody>
          <a:bodyPr anchor="t" anchorCtr="0">
            <a:noAutofit/>
          </a:bodyPr>
          <a:lstStyle>
            <a:lvl1pPr>
              <a:defRPr sz="4800">
                <a:solidFill>
                  <a:schemeClr val="tx1"/>
                </a:solidFill>
                <a:latin typeface="+mj-lt"/>
              </a:defRPr>
            </a:lvl1pPr>
          </a:lstStyle>
          <a:p>
            <a:r>
              <a:rPr lang="en-US" dirty="0" smtClean="0"/>
              <a:t>Thank you</a:t>
            </a:r>
            <a:endParaRPr lang="en-US"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6300000" y="2556379"/>
            <a:ext cx="2520000" cy="3230646"/>
          </a:xfrm>
        </p:spPr>
        <p:txBody>
          <a:bodyPr anchor="t" anchorCtr="0">
            <a:noAutofit/>
          </a:bodyPr>
          <a:lstStyle>
            <a:lvl1pPr>
              <a:spcBef>
                <a:spcPts val="0"/>
              </a:spcBef>
              <a:defRPr sz="1400" b="0"/>
            </a:lvl1pPr>
          </a:lstStyle>
          <a:p>
            <a:r>
              <a:rPr lang="en-US" dirty="0" smtClean="0"/>
              <a:t>Contact information:</a:t>
            </a:r>
          </a:p>
          <a:p>
            <a:endParaRPr lang="en-US" dirty="0" smtClean="0"/>
          </a:p>
          <a:p>
            <a:r>
              <a:rPr lang="en-US" dirty="0" smtClean="0"/>
              <a:t>F name MI. L name</a:t>
            </a:r>
          </a:p>
          <a:p>
            <a:r>
              <a:rPr lang="en-US" dirty="0" smtClean="0"/>
              <a:t>Title</a:t>
            </a:r>
          </a:p>
          <a:p>
            <a:r>
              <a:rPr lang="en-US" dirty="0" smtClean="0"/>
              <a:t>Address</a:t>
            </a:r>
          </a:p>
          <a:p>
            <a:r>
              <a:rPr lang="en-US" dirty="0" smtClean="0"/>
              <a:t>Phone number</a:t>
            </a:r>
          </a:p>
        </p:txBody>
      </p:sp>
      <p:sp>
        <p:nvSpPr>
          <p:cNvPr id="8" name="TextBox 7"/>
          <p:cNvSpPr txBox="1"/>
          <p:nvPr userDrawn="1"/>
        </p:nvSpPr>
        <p:spPr bwMode="black">
          <a:xfrm>
            <a:off x="324000" y="6628489"/>
            <a:ext cx="3387713" cy="138499"/>
          </a:xfrm>
          <a:prstGeom prst="rect">
            <a:avLst/>
          </a:prstGeom>
          <a:noFill/>
        </p:spPr>
        <p:txBody>
          <a:bodyPr wrap="none" lIns="0" tIns="0" rIns="0" bIns="0" rtlCol="0">
            <a:spAutoFit/>
          </a:bodyPr>
          <a:lstStyle/>
          <a:p>
            <a:pPr marL="133350" indent="-133350" algn="l">
              <a:buClr>
                <a:schemeClr val="tx1"/>
              </a:buClr>
              <a:buFont typeface="Arial" pitchFamily="34" charset="0"/>
              <a:buChar char="©"/>
              <a:tabLst/>
            </a:pPr>
            <a:r>
              <a:rPr lang="en-US" sz="900" noProof="0" dirty="0" smtClean="0">
                <a:solidFill>
                  <a:schemeClr val="tx1"/>
                </a:solidFill>
              </a:rPr>
              <a:t>2016 SAP SE or an SAP affiliate company. All rights reserved.</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7" y="478631"/>
            <a:ext cx="1833518" cy="907200"/>
          </a:xfrm>
          <a:prstGeom prst="rect">
            <a:avLst/>
          </a:prstGeom>
        </p:spPr>
      </p:pic>
    </p:spTree>
    <p:extLst>
      <p:ext uri="{BB962C8B-B14F-4D97-AF65-F5344CB8AC3E}">
        <p14:creationId xmlns:p14="http://schemas.microsoft.com/office/powerpoint/2010/main" val="545335027"/>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&lt;Agenda&gt;</a:t>
            </a:r>
            <a:endParaRPr lang="en-US" dirty="0"/>
          </a:p>
        </p:txBody>
      </p:sp>
      <p:sp>
        <p:nvSpPr>
          <p:cNvPr id="4" name="Text Placeholder 3"/>
          <p:cNvSpPr>
            <a:spLocks noGrp="1"/>
          </p:cNvSpPr>
          <p:nvPr>
            <p:ph type="body" sz="quarter" idx="10" hasCustomPrompt="1"/>
          </p:nvPr>
        </p:nvSpPr>
        <p:spPr>
          <a:xfrm>
            <a:off x="324000" y="1692000"/>
            <a:ext cx="8494713" cy="3831818"/>
          </a:xfrm>
        </p:spPr>
        <p:txBody>
          <a:bodyPr>
            <a:noAutofit/>
          </a:bodyPr>
          <a:lstStyle>
            <a:lvl1pPr marL="0" marR="0" indent="0" algn="l" defTabSz="914400" rtl="0" eaLnBrk="1" fontAlgn="auto" latinLnBrk="0" hangingPunct="1">
              <a:lnSpc>
                <a:spcPct val="100000"/>
              </a:lnSpc>
              <a:spcBef>
                <a:spcPts val="1200"/>
              </a:spcBef>
              <a:spcAft>
                <a:spcPts val="0"/>
              </a:spcAft>
              <a:buClr>
                <a:schemeClr val="accent1"/>
              </a:buClr>
              <a:buSzPct val="80000"/>
              <a:buFontTx/>
              <a:buNone/>
              <a:tabLst/>
              <a:defRPr b="0"/>
            </a:lvl1pPr>
            <a:lvl2pPr marL="180000" marR="0" indent="-180000" algn="l" defTabSz="914400" rtl="0" eaLnBrk="1" fontAlgn="auto" latinLnBrk="0" hangingPunct="1">
              <a:lnSpc>
                <a:spcPct val="100000"/>
              </a:lnSpc>
              <a:spcBef>
                <a:spcPts val="600"/>
              </a:spcBef>
              <a:spcAft>
                <a:spcPts val="0"/>
              </a:spcAft>
              <a:buClr>
                <a:schemeClr val="accent1"/>
              </a:buClr>
              <a:buSzPct val="100000"/>
              <a:buFont typeface="Wingdings" pitchFamily="2" charset="2"/>
              <a:buChar char=""/>
              <a:tabLst/>
              <a:defRPr/>
            </a:lvl2pPr>
            <a:lvl3pPr marL="360000" marR="0" indent="-180975"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a:lvl3pPr>
            <a:lvl4pPr marL="533400" marR="0" indent="-177800"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sz="1600"/>
            </a:lvl4pPr>
            <a:lvl5pPr marL="540000">
              <a:buClr>
                <a:schemeClr val="accent2"/>
              </a:buClr>
              <a:buFont typeface="Courier New" pitchFamily="49" charset="0"/>
              <a:buChar char="o"/>
              <a:defRPr/>
            </a:lvl5pPr>
          </a:lstStyle>
          <a:p>
            <a:pPr lvl="0"/>
            <a:r>
              <a:rPr lang="en-US" dirty="0" smtClean="0"/>
              <a:t>Agenda Item/Divider Headline</a:t>
            </a:r>
          </a:p>
          <a:p>
            <a:pPr lvl="1"/>
            <a:r>
              <a:rPr lang="en-US" dirty="0" smtClean="0"/>
              <a:t>Details</a:t>
            </a:r>
          </a:p>
          <a:p>
            <a:pPr lvl="2"/>
            <a:r>
              <a:rPr lang="en-US" dirty="0" smtClean="0"/>
              <a:t>Third Level</a:t>
            </a:r>
          </a:p>
          <a:p>
            <a:pPr lvl="4"/>
            <a:r>
              <a:rPr lang="en-US" dirty="0" smtClean="0"/>
              <a:t>Fourth Level</a:t>
            </a:r>
          </a:p>
          <a:p>
            <a:endParaRPr lang="en-US" dirty="0" smtClean="0"/>
          </a:p>
        </p:txBody>
      </p:sp>
    </p:spTree>
    <p:extLst>
      <p:ext uri="{BB962C8B-B14F-4D97-AF65-F5344CB8AC3E}">
        <p14:creationId xmlns:p14="http://schemas.microsoft.com/office/powerpoint/2010/main" val="2338935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en-US" dirty="0"/>
          </a:p>
        </p:txBody>
      </p:sp>
    </p:spTree>
    <p:extLst>
      <p:ext uri="{BB962C8B-B14F-4D97-AF65-F5344CB8AC3E}">
        <p14:creationId xmlns:p14="http://schemas.microsoft.com/office/powerpoint/2010/main" val="3155311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324000" y="1800000"/>
            <a:ext cx="8496000" cy="738664"/>
          </a:xfrm>
        </p:spPr>
        <p:txBody>
          <a:bodyPr anchor="t" anchorCtr="0">
            <a:noAutofit/>
          </a:bodyPr>
          <a:lstStyle>
            <a:lvl1pPr>
              <a:defRPr sz="4800">
                <a:solidFill>
                  <a:schemeClr val="tx1"/>
                </a:solidFill>
                <a:latin typeface="+mj-lt"/>
              </a:defRPr>
            </a:lvl1pPr>
          </a:lstStyle>
          <a:p>
            <a:r>
              <a:rPr lang="en-US" dirty="0" smtClean="0"/>
              <a:t>Click to insert text</a:t>
            </a:r>
            <a:endParaRPr lang="en-US"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3" name="Rectangle 2"/>
          <p:cNvSpPr/>
          <p:nvPr userDrawn="1"/>
        </p:nvSpPr>
        <p:spPr bwMode="gray">
          <a:xfrm>
            <a:off x="137160" y="1043940"/>
            <a:ext cx="8846820" cy="350520"/>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50618311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0687"/>
            <a:ext cx="8494713" cy="4391026"/>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89100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1999"/>
            <a:ext cx="41652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hasCustomPrompt="1"/>
          </p:nvPr>
        </p:nvSpPr>
        <p:spPr>
          <a:xfrm>
            <a:off x="4654800" y="1691999"/>
            <a:ext cx="41652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32830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000" y="324000"/>
            <a:ext cx="8496000" cy="756000"/>
          </a:xfrm>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1999"/>
            <a:ext cx="27216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hasCustomPrompt="1"/>
          </p:nvPr>
        </p:nvSpPr>
        <p:spPr>
          <a:xfrm>
            <a:off x="6098400" y="1691999"/>
            <a:ext cx="27216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3"/>
          <p:cNvSpPr>
            <a:spLocks noGrp="1"/>
          </p:cNvSpPr>
          <p:nvPr>
            <p:ph type="body" sz="quarter" idx="12" hasCustomPrompt="1"/>
          </p:nvPr>
        </p:nvSpPr>
        <p:spPr>
          <a:xfrm>
            <a:off x="3220725" y="1691999"/>
            <a:ext cx="27216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4506499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1">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en-US" dirty="0"/>
          </a:p>
        </p:txBody>
      </p:sp>
      <p:sp>
        <p:nvSpPr>
          <p:cNvPr id="5" name="Picture Placeholder 4"/>
          <p:cNvSpPr>
            <a:spLocks noGrp="1"/>
          </p:cNvSpPr>
          <p:nvPr>
            <p:ph type="pic" sz="quarter" idx="10"/>
          </p:nvPr>
        </p:nvSpPr>
        <p:spPr bwMode="gray">
          <a:xfrm>
            <a:off x="5745600" y="1690687"/>
            <a:ext cx="3078000" cy="4391025"/>
          </a:xfrm>
          <a:solidFill>
            <a:schemeClr val="bg1">
              <a:lumMod val="95000"/>
            </a:schemeClr>
          </a:solidFill>
        </p:spPr>
        <p:txBody>
          <a:bodyPr tIns="1296000" anchor="t" anchorCtr="0"/>
          <a:lstStyle>
            <a:lvl1pPr algn="ctr">
              <a:defRPr b="0"/>
            </a:lvl1pPr>
          </a:lstStyle>
          <a:p>
            <a:r>
              <a:rPr lang="en-US" smtClean="0"/>
              <a:t>Click icon to add picture</a:t>
            </a:r>
            <a:endParaRPr lang="en-US" dirty="0"/>
          </a:p>
        </p:txBody>
      </p:sp>
      <p:sp>
        <p:nvSpPr>
          <p:cNvPr id="4" name="Text Placeholder 3"/>
          <p:cNvSpPr>
            <a:spLocks noGrp="1"/>
          </p:cNvSpPr>
          <p:nvPr>
            <p:ph type="body" sz="quarter" idx="11" hasCustomPrompt="1"/>
          </p:nvPr>
        </p:nvSpPr>
        <p:spPr>
          <a:xfrm>
            <a:off x="324000" y="1692000"/>
            <a:ext cx="5238000" cy="4392000"/>
          </a:xfrm>
        </p:spPr>
        <p:txBody>
          <a:body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41189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en-US" dirty="0"/>
          </a:p>
        </p:txBody>
      </p:sp>
      <p:sp>
        <p:nvSpPr>
          <p:cNvPr id="5" name="Picture Placeholder 4"/>
          <p:cNvSpPr>
            <a:spLocks noGrp="1"/>
          </p:cNvSpPr>
          <p:nvPr>
            <p:ph type="pic" sz="quarter" idx="10"/>
          </p:nvPr>
        </p:nvSpPr>
        <p:spPr bwMode="gray">
          <a:xfrm>
            <a:off x="4654800" y="1692000"/>
            <a:ext cx="4165200" cy="4392000"/>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mn-lt"/>
                <a:ea typeface="+mn-ea"/>
                <a:cs typeface="+mn-cs"/>
              </a:defRPr>
            </a:lvl1pPr>
          </a:lstStyle>
          <a:p>
            <a:r>
              <a:rPr lang="en-US" smtClean="0"/>
              <a:t>Click icon to add picture</a:t>
            </a:r>
            <a:endParaRPr lang="en-US" dirty="0"/>
          </a:p>
        </p:txBody>
      </p:sp>
      <p:sp>
        <p:nvSpPr>
          <p:cNvPr id="7" name="Text Placeholder 6"/>
          <p:cNvSpPr>
            <a:spLocks noGrp="1"/>
          </p:cNvSpPr>
          <p:nvPr>
            <p:ph type="body" sz="quarter" idx="11" hasCustomPrompt="1"/>
          </p:nvPr>
        </p:nvSpPr>
        <p:spPr bwMode="gray">
          <a:xfrm>
            <a:off x="324000" y="1692000"/>
            <a:ext cx="41652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57597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en-US" dirty="0"/>
          </a:p>
        </p:txBody>
      </p:sp>
      <p:sp>
        <p:nvSpPr>
          <p:cNvPr id="5" name="Picture Placeholder 4"/>
          <p:cNvSpPr>
            <a:spLocks noGrp="1"/>
          </p:cNvSpPr>
          <p:nvPr>
            <p:ph type="pic" sz="quarter" idx="10"/>
          </p:nvPr>
        </p:nvSpPr>
        <p:spPr bwMode="gray">
          <a:xfrm>
            <a:off x="3575304" y="1692000"/>
            <a:ext cx="5238000" cy="4392000"/>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mn-lt"/>
                <a:ea typeface="+mn-ea"/>
                <a:cs typeface="+mn-cs"/>
              </a:defRPr>
            </a:lvl1pPr>
          </a:lstStyle>
          <a:p>
            <a:r>
              <a:rPr lang="en-US" smtClean="0"/>
              <a:t>Click icon to add picture</a:t>
            </a:r>
            <a:endParaRPr lang="en-US" dirty="0"/>
          </a:p>
        </p:txBody>
      </p:sp>
      <p:sp>
        <p:nvSpPr>
          <p:cNvPr id="7" name="Text Placeholder 6"/>
          <p:cNvSpPr>
            <a:spLocks noGrp="1"/>
          </p:cNvSpPr>
          <p:nvPr>
            <p:ph type="body" sz="quarter" idx="11" hasCustomPrompt="1"/>
          </p:nvPr>
        </p:nvSpPr>
        <p:spPr bwMode="gray">
          <a:xfrm>
            <a:off x="324000" y="1692000"/>
            <a:ext cx="30780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5586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0688"/>
            <a:ext cx="4165200" cy="1720800"/>
          </a:xfrm>
        </p:spPr>
        <p:txBody>
          <a:bodyPr/>
          <a:lstStyle>
            <a:lvl1pPr>
              <a:defRPr/>
            </a:lvl1pPr>
          </a:lstStyle>
          <a:p>
            <a:pPr lvl="0"/>
            <a:r>
              <a:rPr lang="en-US" noProof="0" dirty="0" smtClean="0"/>
              <a:t>First level</a:t>
            </a:r>
          </a:p>
          <a:p>
            <a:pPr lvl="1"/>
            <a:r>
              <a:rPr lang="en-US" dirty="0" smtClean="0"/>
              <a:t>Second level</a:t>
            </a:r>
          </a:p>
        </p:txBody>
      </p:sp>
      <p:sp>
        <p:nvSpPr>
          <p:cNvPr id="13" name="Text Placeholder 3"/>
          <p:cNvSpPr>
            <a:spLocks noGrp="1"/>
          </p:cNvSpPr>
          <p:nvPr>
            <p:ph type="body" sz="quarter" idx="14" hasCustomPrompt="1"/>
          </p:nvPr>
        </p:nvSpPr>
        <p:spPr>
          <a:xfrm>
            <a:off x="4654800" y="1690688"/>
            <a:ext cx="4165200" cy="1720800"/>
          </a:xfrm>
        </p:spPr>
        <p:txBody>
          <a:bodyPr/>
          <a:lstStyle>
            <a:lvl1pPr>
              <a:defRPr/>
            </a:lvl1pPr>
          </a:lstStyle>
          <a:p>
            <a:pPr lvl="0"/>
            <a:r>
              <a:rPr lang="en-US" noProof="0" dirty="0" smtClean="0"/>
              <a:t>First level</a:t>
            </a:r>
          </a:p>
          <a:p>
            <a:pPr lvl="1"/>
            <a:r>
              <a:rPr lang="en-US" dirty="0" smtClean="0"/>
              <a:t>Second level</a:t>
            </a:r>
          </a:p>
        </p:txBody>
      </p:sp>
      <p:sp>
        <p:nvSpPr>
          <p:cNvPr id="9" name="Picture Placeholder 4"/>
          <p:cNvSpPr>
            <a:spLocks noGrp="1"/>
          </p:cNvSpPr>
          <p:nvPr>
            <p:ph type="pic" sz="quarter" idx="15"/>
          </p:nvPr>
        </p:nvSpPr>
        <p:spPr bwMode="gray">
          <a:xfrm>
            <a:off x="324000" y="3573490"/>
            <a:ext cx="4165200" cy="2508223"/>
          </a:xfrm>
          <a:solidFill>
            <a:schemeClr val="bg1">
              <a:lumMod val="95000"/>
            </a:schemeClr>
          </a:solidFill>
        </p:spPr>
        <p:txBody>
          <a:bodyPr tIns="504000" anchor="t" anchorCtr="0"/>
          <a:lstStyle>
            <a:lvl1pPr algn="ctr">
              <a:defRPr b="0"/>
            </a:lvl1pPr>
          </a:lstStyle>
          <a:p>
            <a:r>
              <a:rPr lang="en-US" smtClean="0"/>
              <a:t>Click icon to add picture</a:t>
            </a:r>
            <a:endParaRPr lang="en-US" dirty="0"/>
          </a:p>
        </p:txBody>
      </p:sp>
      <p:sp>
        <p:nvSpPr>
          <p:cNvPr id="11" name="Picture Placeholder 4"/>
          <p:cNvSpPr>
            <a:spLocks noGrp="1"/>
          </p:cNvSpPr>
          <p:nvPr>
            <p:ph type="pic" sz="quarter" idx="16"/>
          </p:nvPr>
        </p:nvSpPr>
        <p:spPr bwMode="gray">
          <a:xfrm>
            <a:off x="4654800" y="3573490"/>
            <a:ext cx="4165200" cy="2508223"/>
          </a:xfrm>
          <a:solidFill>
            <a:schemeClr val="bg1">
              <a:lumMod val="95000"/>
            </a:schemeClr>
          </a:solidFill>
        </p:spPr>
        <p:txBody>
          <a:bodyPr tIns="504000" anchor="t" anchorCtr="0"/>
          <a:lstStyle>
            <a:lvl1pPr algn="ctr">
              <a:defRPr b="0"/>
            </a:lvl1pPr>
          </a:lstStyle>
          <a:p>
            <a:r>
              <a:rPr lang="en-US" smtClean="0"/>
              <a:t>Click icon to add picture</a:t>
            </a:r>
            <a:endParaRPr lang="en-US" dirty="0"/>
          </a:p>
        </p:txBody>
      </p:sp>
    </p:spTree>
    <p:extLst>
      <p:ext uri="{BB962C8B-B14F-4D97-AF65-F5344CB8AC3E}">
        <p14:creationId xmlns:p14="http://schemas.microsoft.com/office/powerpoint/2010/main" val="23983661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327024" y="1690688"/>
            <a:ext cx="8493125" cy="4395787"/>
          </a:xfrm>
        </p:spPr>
        <p:txBody>
          <a:bodyPr/>
          <a:lstStyle>
            <a:lvl1pPr>
              <a:defRPr/>
            </a:lvl1pPr>
          </a:lstStyle>
          <a:p>
            <a:pPr lvl="0"/>
            <a:r>
              <a:rPr lang="en-US" noProof="0" dirty="0" smtClean="0"/>
              <a:t>Click to add content</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2" name="Title 1"/>
          <p:cNvSpPr>
            <a:spLocks noGrp="1"/>
          </p:cNvSpPr>
          <p:nvPr>
            <p:ph type="title" hasCustomPrompt="1"/>
          </p:nvPr>
        </p:nvSpPr>
        <p:spPr/>
        <p:txBody>
          <a:bodyPr/>
          <a:lstStyle/>
          <a:p>
            <a:r>
              <a:rPr lang="en-US" noProof="0" dirty="0" smtClean="0"/>
              <a:t>Insert page title</a:t>
            </a:r>
            <a:endParaRPr lang="en-US" dirty="0"/>
          </a:p>
        </p:txBody>
      </p:sp>
    </p:spTree>
    <p:extLst>
      <p:ext uri="{BB962C8B-B14F-4D97-AF65-F5344CB8AC3E}">
        <p14:creationId xmlns:p14="http://schemas.microsoft.com/office/powerpoint/2010/main" val="9521613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Discussion panel</a:t>
            </a:r>
            <a:endParaRPr lang="en-US" dirty="0"/>
          </a:p>
        </p:txBody>
      </p:sp>
      <p:sp>
        <p:nvSpPr>
          <p:cNvPr id="5" name="Text Placeholder 4"/>
          <p:cNvSpPr>
            <a:spLocks noGrp="1"/>
          </p:cNvSpPr>
          <p:nvPr>
            <p:ph type="body" sz="quarter" idx="10" hasCustomPrompt="1"/>
          </p:nvPr>
        </p:nvSpPr>
        <p:spPr>
          <a:xfrm>
            <a:off x="324000" y="1692000"/>
            <a:ext cx="8494713" cy="2816156"/>
          </a:xfrm>
        </p:spPr>
        <p:txBody>
          <a:bodyPr>
            <a:noAutofit/>
          </a:bodyPr>
          <a:lstStyle>
            <a:lvl1pPr>
              <a:spcBef>
                <a:spcPts val="1800"/>
              </a:spcBef>
              <a:defRPr/>
            </a:lvl1pPr>
          </a:lstStyle>
          <a:p>
            <a:r>
              <a:rPr lang="en-US" dirty="0" smtClean="0"/>
              <a:t>Title of discussion panel</a:t>
            </a:r>
          </a:p>
          <a:p>
            <a:r>
              <a:rPr lang="en-US" b="0" dirty="0" smtClean="0"/>
              <a:t>Speaker Name, Company 1</a:t>
            </a:r>
          </a:p>
          <a:p>
            <a:r>
              <a:rPr lang="en-US" b="0" dirty="0" smtClean="0"/>
              <a:t>Speaker Name, Company 2</a:t>
            </a:r>
          </a:p>
          <a:p>
            <a:r>
              <a:rPr lang="en-US" b="0" dirty="0" smtClean="0"/>
              <a:t>Speaker Name, Company 3</a:t>
            </a:r>
          </a:p>
          <a:p>
            <a:r>
              <a:rPr lang="en-US" b="0" dirty="0" smtClean="0"/>
              <a:t>Speaker Name, Company 4</a:t>
            </a:r>
          </a:p>
          <a:p>
            <a:r>
              <a:rPr lang="en-US" b="0" dirty="0" smtClean="0"/>
              <a:t>Speaker Name, Company 5</a:t>
            </a:r>
          </a:p>
        </p:txBody>
      </p:sp>
    </p:spTree>
    <p:extLst>
      <p:ext uri="{BB962C8B-B14F-4D97-AF65-F5344CB8AC3E}">
        <p14:creationId xmlns:p14="http://schemas.microsoft.com/office/powerpoint/2010/main" val="2230154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10" name="Rectangle 9"/>
          <p:cNvSpPr/>
          <p:nvPr userDrawn="1"/>
        </p:nvSpPr>
        <p:spPr bwMode="gray">
          <a:xfrm>
            <a:off x="137160" y="1043940"/>
            <a:ext cx="8846820" cy="350520"/>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7639702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creensho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5383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sp>
        <p:nvSpPr>
          <p:cNvPr id="11" name="TextBox 10"/>
          <p:cNvSpPr txBox="1"/>
          <p:nvPr/>
        </p:nvSpPr>
        <p:spPr bwMode="gray">
          <a:xfrm>
            <a:off x="324000" y="324000"/>
            <a:ext cx="8496150" cy="756000"/>
          </a:xfrm>
          <a:prstGeom prst="rect">
            <a:avLst/>
          </a:prstGeom>
        </p:spPr>
        <p:txBody>
          <a:bodyPr vert="horz" lIns="0" tIns="0" rIns="0" bIns="0" rtlCol="0" anchor="ctr" anchorCtr="0">
            <a:noAutofit/>
          </a:bodyPr>
          <a:lstStyle/>
          <a:p>
            <a:pPr algn="l" defTabSz="914400" rtl="0" eaLnBrk="1" latinLnBrk="0" hangingPunct="1">
              <a:spcBef>
                <a:spcPct val="0"/>
              </a:spcBef>
              <a:buNone/>
            </a:pPr>
            <a:r>
              <a:rPr lang="en-US" sz="2400" b="1" kern="1200" noProof="0" dirty="0" smtClean="0">
                <a:solidFill>
                  <a:schemeClr val="accent2"/>
                </a:solidFill>
                <a:latin typeface="+mj-lt"/>
                <a:ea typeface="+mj-ea"/>
                <a:cs typeface="+mj-cs"/>
              </a:rPr>
              <a:t>© 2016 SAP SE or an SAP affiliate company. </a:t>
            </a:r>
            <a:br>
              <a:rPr lang="en-US" sz="2400" b="1" kern="1200" noProof="0" dirty="0" smtClean="0">
                <a:solidFill>
                  <a:schemeClr val="accent2"/>
                </a:solidFill>
                <a:latin typeface="+mj-lt"/>
                <a:ea typeface="+mj-ea"/>
                <a:cs typeface="+mj-cs"/>
              </a:rPr>
            </a:br>
            <a:r>
              <a:rPr lang="en-US" sz="2400" b="1" kern="1200" noProof="0" dirty="0" smtClean="0">
                <a:solidFill>
                  <a:schemeClr val="accent2"/>
                </a:solidFill>
                <a:latin typeface="+mj-lt"/>
                <a:ea typeface="+mj-ea"/>
                <a:cs typeface="+mj-cs"/>
              </a:rPr>
              <a:t>All rights reserved.</a:t>
            </a:r>
          </a:p>
        </p:txBody>
      </p:sp>
      <p:sp>
        <p:nvSpPr>
          <p:cNvPr id="5" name="TextBox 4"/>
          <p:cNvSpPr txBox="1"/>
          <p:nvPr/>
        </p:nvSpPr>
        <p:spPr bwMode="gray">
          <a:xfrm>
            <a:off x="324000" y="1692000"/>
            <a:ext cx="8496150" cy="3539430"/>
          </a:xfrm>
          <a:prstGeom prst="rect">
            <a:avLst/>
          </a:prstGeom>
          <a:noFill/>
        </p:spPr>
        <p:txBody>
          <a:bodyPr wrap="square" lIns="0" tIns="0" rIns="0" bIns="0" rtlCol="0">
            <a:spAutoFit/>
          </a:bodyPr>
          <a:lstStyle/>
          <a:p>
            <a:r>
              <a:rPr lang="en-US" sz="1000" kern="1200" dirty="0" smtClean="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a:t>
            </a:r>
          </a:p>
          <a:p>
            <a:r>
              <a:rPr lang="en-US" sz="1000" kern="1200" dirty="0" smtClean="0">
                <a:solidFill>
                  <a:schemeClr val="tx1"/>
                </a:solidFill>
                <a:latin typeface="Arial"/>
                <a:ea typeface="Arial Unicode MS" panose="020B0604020202020204" pitchFamily="34" charset="-128"/>
                <a:cs typeface="+mn-cs"/>
              </a:rPr>
              <a:t>SAP affiliate company.</a:t>
            </a:r>
          </a:p>
          <a:p>
            <a:pPr>
              <a:spcBef>
                <a:spcPts val="1200"/>
              </a:spcBef>
            </a:pPr>
            <a:r>
              <a:rPr lang="en-US" sz="1000" kern="1200" dirty="0" smtClean="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a:t>
            </a:r>
            <a:br>
              <a:rPr lang="en-US" sz="1000" kern="1200" dirty="0" smtClean="0">
                <a:solidFill>
                  <a:schemeClr val="tx1"/>
                </a:solidFill>
                <a:latin typeface="Arial"/>
                <a:ea typeface="Arial Unicode MS" panose="020B0604020202020204" pitchFamily="34" charset="-128"/>
                <a:cs typeface="+mn-cs"/>
              </a:rPr>
            </a:br>
            <a:r>
              <a:rPr lang="en-US" sz="1000" kern="1200" dirty="0" smtClean="0">
                <a:solidFill>
                  <a:schemeClr val="tx1"/>
                </a:solidFill>
                <a:latin typeface="Arial"/>
                <a:ea typeface="Arial Unicode MS" panose="020B0604020202020204" pitchFamily="34" charset="-128"/>
                <a:cs typeface="+mn-cs"/>
              </a:rPr>
              <a:t>(or an SAP affiliate company) in Germany and other countries. Please see </a:t>
            </a:r>
            <a:r>
              <a:rPr lang="en-US" sz="1000" kern="1200" dirty="0" smtClean="0">
                <a:solidFill>
                  <a:schemeClr val="tx1"/>
                </a:solidFill>
                <a:latin typeface="Arial"/>
                <a:ea typeface="Arial Unicode MS" panose="020B0604020202020204" pitchFamily="34" charset="-128"/>
                <a:cs typeface="+mn-cs"/>
                <a:hlinkClick r:id="rId2"/>
              </a:rPr>
              <a:t>http://global12.sap.com/corporate-en/legal/copyright/index.epx</a:t>
            </a:r>
            <a:r>
              <a:rPr lang="en-US" sz="1000" kern="1200" dirty="0" smtClean="0">
                <a:solidFill>
                  <a:schemeClr val="tx1"/>
                </a:solidFill>
                <a:latin typeface="Arial"/>
                <a:ea typeface="Arial Unicode MS" panose="020B0604020202020204" pitchFamily="34" charset="-128"/>
                <a:cs typeface="+mn-cs"/>
              </a:rPr>
              <a:t> for additional trademark information and notices.</a:t>
            </a:r>
          </a:p>
          <a:p>
            <a:pPr>
              <a:spcBef>
                <a:spcPts val="1200"/>
              </a:spcBef>
            </a:pPr>
            <a:r>
              <a:rPr lang="en-US" sz="1000" kern="1200" dirty="0" smtClean="0">
                <a:solidFill>
                  <a:schemeClr val="tx1"/>
                </a:solidFill>
                <a:latin typeface="Arial"/>
                <a:ea typeface="Arial Unicode MS" panose="020B0604020202020204" pitchFamily="34" charset="-128"/>
                <a:cs typeface="+mn-cs"/>
              </a:rPr>
              <a:t>Some software products marketed by SAP SE and its distributors contain proprietary software components of other software vendors.</a:t>
            </a:r>
          </a:p>
          <a:p>
            <a:pPr>
              <a:spcBef>
                <a:spcPts val="1200"/>
              </a:spcBef>
            </a:pPr>
            <a:r>
              <a:rPr lang="en-US" sz="1000" kern="1200" dirty="0" smtClean="0">
                <a:solidFill>
                  <a:schemeClr val="tx1"/>
                </a:solidFill>
                <a:latin typeface="Arial"/>
                <a:ea typeface="Arial Unicode MS" panose="020B0604020202020204" pitchFamily="34" charset="-128"/>
                <a:cs typeface="+mn-cs"/>
              </a:rPr>
              <a:t>National product specifications may vary.</a:t>
            </a:r>
          </a:p>
          <a:p>
            <a:pPr>
              <a:spcBef>
                <a:spcPts val="1200"/>
              </a:spcBef>
            </a:pPr>
            <a:r>
              <a:rPr lang="en-US" sz="1000" kern="1200" dirty="0" smtClean="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a:t>
            </a:r>
            <a:br>
              <a:rPr lang="en-US" sz="1000" kern="1200" dirty="0" smtClean="0">
                <a:solidFill>
                  <a:schemeClr val="tx1"/>
                </a:solidFill>
                <a:latin typeface="Arial"/>
                <a:ea typeface="Arial Unicode MS" panose="020B0604020202020204" pitchFamily="34" charset="-128"/>
                <a:cs typeface="+mn-cs"/>
              </a:rPr>
            </a:br>
            <a:r>
              <a:rPr lang="en-US" sz="1000" kern="1200" dirty="0" smtClean="0">
                <a:solidFill>
                  <a:schemeClr val="tx1"/>
                </a:solidFill>
                <a:latin typeface="Arial"/>
                <a:ea typeface="Arial Unicode MS" panose="020B0604020202020204" pitchFamily="34" charset="-128"/>
                <a:cs typeface="+mn-cs"/>
              </a:rPr>
              <a:t>SAP affiliate company products and services are those that are set forth in the express warranty statements accompanying such products and </a:t>
            </a:r>
            <a:br>
              <a:rPr lang="en-US" sz="1000" kern="1200" dirty="0" smtClean="0">
                <a:solidFill>
                  <a:schemeClr val="tx1"/>
                </a:solidFill>
                <a:latin typeface="Arial"/>
                <a:ea typeface="Arial Unicode MS" panose="020B0604020202020204" pitchFamily="34" charset="-128"/>
                <a:cs typeface="+mn-cs"/>
              </a:rPr>
            </a:br>
            <a:r>
              <a:rPr lang="en-US" sz="1000" kern="1200" dirty="0" smtClean="0">
                <a:solidFill>
                  <a:schemeClr val="tx1"/>
                </a:solidFill>
                <a:latin typeface="Arial"/>
                <a:ea typeface="Arial Unicode MS" panose="020B0604020202020204" pitchFamily="34" charset="-128"/>
                <a:cs typeface="+mn-cs"/>
              </a:rPr>
              <a:t>services, if any. Nothing herein should be construed as constituting an additional warranty. </a:t>
            </a:r>
          </a:p>
          <a:p>
            <a:pPr>
              <a:spcBef>
                <a:spcPts val="1200"/>
              </a:spcBef>
            </a:pPr>
            <a:r>
              <a:rPr lang="en-US" sz="1000" kern="1200" dirty="0" smtClean="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14909196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sp>
        <p:nvSpPr>
          <p:cNvPr id="11" name="TextBox 10"/>
          <p:cNvSpPr txBox="1"/>
          <p:nvPr userDrawn="1"/>
        </p:nvSpPr>
        <p:spPr bwMode="gray">
          <a:xfrm>
            <a:off x="324000" y="324000"/>
            <a:ext cx="8496150" cy="756000"/>
          </a:xfrm>
          <a:prstGeom prst="rect">
            <a:avLst/>
          </a:prstGeom>
        </p:spPr>
        <p:txBody>
          <a:bodyPr vert="horz" lIns="0" tIns="0" rIns="0" bIns="0" rtlCol="0" anchor="ctr" anchorCtr="0">
            <a:noAutofit/>
          </a:bodyPr>
          <a:lstStyle/>
          <a:p>
            <a:pPr marL="0" marR="0" indent="0" algn="l" defTabSz="914400" rtl="0" eaLnBrk="1" fontAlgn="auto" latinLnBrk="0" hangingPunct="1">
              <a:lnSpc>
                <a:spcPct val="100000"/>
              </a:lnSpc>
              <a:spcBef>
                <a:spcPct val="0"/>
              </a:spcBef>
              <a:spcAft>
                <a:spcPts val="0"/>
              </a:spcAft>
              <a:buClrTx/>
              <a:buSzTx/>
              <a:buFontTx/>
              <a:buNone/>
              <a:tabLst/>
              <a:defRPr/>
            </a:pPr>
            <a:r>
              <a:rPr lang="de-DE" sz="2400" b="1" kern="1200" noProof="0" dirty="0" smtClean="0">
                <a:solidFill>
                  <a:schemeClr val="accent2"/>
                </a:solidFill>
                <a:latin typeface="+mj-lt"/>
                <a:ea typeface="+mj-ea"/>
                <a:cs typeface="+mj-cs"/>
              </a:rPr>
              <a:t>© 2016 SAP SE oder ein SAP-Konzernunternehmen. </a:t>
            </a:r>
            <a:br>
              <a:rPr lang="de-DE" sz="2400" b="1" kern="1200" noProof="0" dirty="0" smtClean="0">
                <a:solidFill>
                  <a:schemeClr val="accent2"/>
                </a:solidFill>
                <a:latin typeface="+mj-lt"/>
                <a:ea typeface="+mj-ea"/>
                <a:cs typeface="+mj-cs"/>
              </a:rPr>
            </a:br>
            <a:r>
              <a:rPr lang="de-DE" sz="2400" b="1" kern="1200" noProof="0" dirty="0" smtClean="0">
                <a:solidFill>
                  <a:schemeClr val="accent2"/>
                </a:solidFill>
                <a:latin typeface="+mj-lt"/>
                <a:ea typeface="+mj-ea"/>
                <a:cs typeface="+mj-cs"/>
              </a:rPr>
              <a:t>Alle Rechte vorbehalten.</a:t>
            </a:r>
          </a:p>
        </p:txBody>
      </p:sp>
      <p:sp>
        <p:nvSpPr>
          <p:cNvPr id="6" name="TextBox 5"/>
          <p:cNvSpPr txBox="1"/>
          <p:nvPr/>
        </p:nvSpPr>
        <p:spPr bwMode="gray">
          <a:xfrm>
            <a:off x="324000" y="1692000"/>
            <a:ext cx="8496150" cy="4001095"/>
          </a:xfrm>
          <a:prstGeom prst="rect">
            <a:avLst/>
          </a:prstGeom>
          <a:noFill/>
        </p:spPr>
        <p:txBody>
          <a:bodyPr wrap="square" lIns="0" tIns="0" rIns="0" bIns="0" rtlCol="0">
            <a:spAutoFit/>
          </a:bodyPr>
          <a:lstStyle/>
          <a:p>
            <a:r>
              <a:rPr lang="de-DE" sz="1000" kern="1200" noProof="0" dirty="0" smtClean="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ein SAP-Konzernunternehmen nicht gestattet.</a:t>
            </a:r>
          </a:p>
          <a:p>
            <a:pPr>
              <a:spcBef>
                <a:spcPts val="1200"/>
              </a:spcBef>
            </a:pPr>
            <a:r>
              <a:rPr lang="de-DE" sz="1000" kern="1200" noProof="0" dirty="0" smtClean="0">
                <a:solidFill>
                  <a:schemeClr val="tx1"/>
                </a:solidFill>
                <a:effectLst/>
                <a:latin typeface="Arial"/>
                <a:ea typeface="+mn-ea"/>
                <a:cs typeface="+mn-cs"/>
              </a:rPr>
              <a:t>SAP und andere in diesem Dokument erwähnte Produkte und Dienstleistungen von SAP sowie die dazugehörigen Logos sind Marken oder eingetragene Marken der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von einem SAP-Konzernunternehmen) in Deutschland und verschiedenen anderen Ländern weltweit.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Weitere Hinweise und Informationen zum Markenrecht finden Sie unter </a:t>
            </a:r>
            <a:r>
              <a:rPr lang="de-DE" sz="1000" kern="1200" noProof="0" dirty="0" smtClean="0">
                <a:solidFill>
                  <a:schemeClr val="tx1"/>
                </a:solidFill>
                <a:effectLst/>
                <a:latin typeface="Arial"/>
                <a:ea typeface="+mn-ea"/>
                <a:cs typeface="+mn-cs"/>
                <a:hlinkClick r:id="rId2"/>
              </a:rPr>
              <a:t>http://global.sap.com/corporate-de/legal/copyright/index.epx</a:t>
            </a:r>
            <a:r>
              <a:rPr lang="de-DE" sz="1000" kern="1200" noProof="0" dirty="0" smtClean="0">
                <a:solidFill>
                  <a:schemeClr val="tx1"/>
                </a:solidFill>
                <a:effectLst/>
                <a:latin typeface="Arial"/>
                <a:ea typeface="+mn-ea"/>
                <a:cs typeface="+mn-cs"/>
              </a:rPr>
              <a:t>.</a:t>
            </a:r>
          </a:p>
          <a:p>
            <a:pPr>
              <a:spcBef>
                <a:spcPts val="1200"/>
              </a:spcBef>
            </a:pPr>
            <a:r>
              <a:rPr lang="de-DE" sz="1000" kern="1200" noProof="0" dirty="0" smtClean="0">
                <a:solidFill>
                  <a:schemeClr val="tx1"/>
                </a:solidFill>
                <a:effectLst/>
                <a:latin typeface="Arial"/>
                <a:ea typeface="+mn-ea"/>
                <a:cs typeface="+mn-cs"/>
              </a:rPr>
              <a:t>Die von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deren Vertriebsfirmen angebotenen Softwareprodukte können Softwarekomponenten auch anderer Softwarehersteller enthalten.</a:t>
            </a:r>
          </a:p>
          <a:p>
            <a:pPr>
              <a:spcBef>
                <a:spcPts val="1200"/>
              </a:spcBef>
            </a:pPr>
            <a:r>
              <a:rPr lang="de-DE" sz="1000" kern="1200" noProof="0" dirty="0" smtClean="0">
                <a:solidFill>
                  <a:schemeClr val="tx1"/>
                </a:solidFill>
                <a:effectLst/>
                <a:latin typeface="Arial"/>
                <a:ea typeface="+mn-ea"/>
                <a:cs typeface="+mn-cs"/>
              </a:rPr>
              <a:t>Produkte können länderspezifische Unterschiede aufweisen.</a:t>
            </a:r>
          </a:p>
          <a:p>
            <a:pPr>
              <a:spcBef>
                <a:spcPts val="1200"/>
              </a:spcBef>
            </a:pPr>
            <a:r>
              <a:rPr lang="de-DE" sz="1000" kern="1200" noProof="0" dirty="0" smtClean="0">
                <a:solidFill>
                  <a:schemeClr val="tx1"/>
                </a:solidFill>
                <a:effectLst/>
                <a:latin typeface="Arial"/>
                <a:ea typeface="+mn-ea"/>
                <a:cs typeface="+mn-cs"/>
              </a:rPr>
              <a:t>Die vorliegenden Unterlagen werden von der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einem SAP-Konzernunternehmen bereitgestellt und dienen ausschließlich zu Informations-zwecken. Die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ihre Konzernunternehmen übernehmen keinerlei Haftung oder Gewährleistung für Fehler oder Unvollständigkeiten in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dieser Publikation. Die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000" kern="1200" noProof="0" dirty="0" smtClean="0">
                <a:solidFill>
                  <a:schemeClr val="tx1"/>
                </a:solidFill>
                <a:effectLst/>
                <a:latin typeface="Arial"/>
                <a:ea typeface="+mn-ea"/>
                <a:cs typeface="+mn-cs"/>
              </a:rPr>
              <a:t>Insbesondere sind die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ihre Konzernunternehmen in keiner Weise verpflichtet, in dieser Publikation oder einer zugehörigen Präsentation dargestellte Geschäftsabläufe zu verfolgen oder hierin wiedergegebene Funktionen zu entwickeln oder zu veröffentlichen. Diese Publikation oder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eine zugehörige Präsentation, die Strategie und etwaige künftige Entwicklungen, Produkte und/oder Plattformen der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ihrer Konzern-</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unternehmen können von der </a:t>
            </a:r>
            <a:r>
              <a:rPr lang="en-US" sz="1000" kern="1200" dirty="0" smtClean="0">
                <a:solidFill>
                  <a:schemeClr val="tx1"/>
                </a:solidFill>
                <a:latin typeface="Arial"/>
                <a:ea typeface="Arial Unicode MS" panose="020B0604020202020204" pitchFamily="34" charset="-128"/>
                <a:cs typeface="+mn-cs"/>
              </a:rPr>
              <a:t>SAP SE </a:t>
            </a:r>
            <a:r>
              <a:rPr lang="de-DE" sz="1000" kern="1200" noProof="0" dirty="0" smtClean="0">
                <a:solidFill>
                  <a:schemeClr val="tx1"/>
                </a:solidFill>
                <a:effectLst/>
                <a:latin typeface="Arial"/>
                <a:ea typeface="+mn-ea"/>
                <a:cs typeface="+mn-cs"/>
              </a:rPr>
              <a:t>oder ihren Konzernunternehmen jederzeit und ohne Angabe von Gründen unangekündigt geändert werden.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die tatsächlichen Ergebnisse von den Erwartungen abweichen können. Die vorausschauenden Aussagen geben die Sicht zu dem Zeitpunkt wieder, </a:t>
            </a:r>
            <a:br>
              <a:rPr lang="de-DE" sz="1000" kern="1200" noProof="0" dirty="0" smtClean="0">
                <a:solidFill>
                  <a:schemeClr val="tx1"/>
                </a:solidFill>
                <a:effectLst/>
                <a:latin typeface="Arial"/>
                <a:ea typeface="+mn-ea"/>
                <a:cs typeface="+mn-cs"/>
              </a:rPr>
            </a:br>
            <a:r>
              <a:rPr lang="de-DE" sz="1000" kern="1200" noProof="0" dirty="0" smtClean="0">
                <a:solidFill>
                  <a:schemeClr val="tx1"/>
                </a:solidFill>
                <a:effectLst/>
                <a:latin typeface="Arial"/>
                <a:ea typeface="+mn-ea"/>
                <a:cs typeface="+mn-cs"/>
              </a:rPr>
              <a:t>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811085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00"/>
            <a:ext cx="8496000" cy="756000"/>
          </a:xfrm>
          <a:prstGeom prst="rect">
            <a:avLst/>
          </a:prstGeom>
        </p:spPr>
        <p:txBody>
          <a:bodyPr vert="horz" lIns="0" tIns="0" rIns="0" bIns="0" rtlCol="0" anchor="ctr" anchorCtr="0">
            <a:noAutofit/>
          </a:bodyPr>
          <a:lstStyle/>
          <a:p>
            <a:r>
              <a:rPr lang="en-US" noProof="0" dirty="0" smtClean="0"/>
              <a:t>Insert page title</a:t>
            </a:r>
            <a:endParaRPr lang="en-US" noProof="0" dirty="0"/>
          </a:p>
        </p:txBody>
      </p:sp>
      <p:sp>
        <p:nvSpPr>
          <p:cNvPr id="3" name="Text Placeholder 2"/>
          <p:cNvSpPr>
            <a:spLocks noGrp="1"/>
          </p:cNvSpPr>
          <p:nvPr>
            <p:ph type="body" idx="1"/>
          </p:nvPr>
        </p:nvSpPr>
        <p:spPr bwMode="gray">
          <a:xfrm>
            <a:off x="324000" y="1690687"/>
            <a:ext cx="8496000" cy="4391025"/>
          </a:xfrm>
          <a:prstGeom prst="rect">
            <a:avLst/>
          </a:prstGeom>
        </p:spPr>
        <p:txBody>
          <a:bodyPr vert="horz" lIns="0" tIns="0" rIns="0" bIns="0" rtlCol="0">
            <a:noAutofit/>
          </a:bodyPr>
          <a:lstStyle/>
          <a:p>
            <a:pPr lvl="0"/>
            <a:r>
              <a:rPr lang="en-US" noProof="0" dirty="0" smtClean="0"/>
              <a:t>First level</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33" name="Rectangle 32"/>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200"/>
            <a:ext cx="84963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bwMode="white">
          <a:xfrm>
            <a:off x="324000" y="6535738"/>
            <a:ext cx="8496000" cy="324000"/>
          </a:xfrm>
          <a:prstGeom prst="rect">
            <a:avLst/>
          </a:prstGeom>
          <a:solidFill>
            <a:schemeClr val="tx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9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10" name="TextBox 9"/>
          <p:cNvSpPr txBox="1"/>
          <p:nvPr/>
        </p:nvSpPr>
        <p:spPr bwMode="black">
          <a:xfrm>
            <a:off x="324000" y="6628489"/>
            <a:ext cx="3387713" cy="138499"/>
          </a:xfrm>
          <a:prstGeom prst="rect">
            <a:avLst/>
          </a:prstGeom>
          <a:noFill/>
        </p:spPr>
        <p:txBody>
          <a:bodyPr wrap="none" lIns="72000" tIns="0" rIns="0" bIns="0" rtlCol="0">
            <a:spAutoFit/>
          </a:bodyPr>
          <a:lstStyle/>
          <a:p>
            <a:pPr marL="133350" indent="-133350" algn="l">
              <a:buClr>
                <a:schemeClr val="bg1"/>
              </a:buClr>
              <a:buFont typeface="Arial" pitchFamily="34" charset="0"/>
              <a:buChar char="©"/>
              <a:tabLst/>
            </a:pPr>
            <a:r>
              <a:rPr lang="en-US" sz="900" noProof="0" dirty="0" smtClean="0">
                <a:solidFill>
                  <a:schemeClr val="bg1"/>
                </a:solidFill>
              </a:rPr>
              <a:t>2016 SAP SE or an SAP affiliate company. All rights reserved.</a:t>
            </a:r>
          </a:p>
        </p:txBody>
      </p:sp>
      <p:sp>
        <p:nvSpPr>
          <p:cNvPr id="34" name="TextBox 33"/>
          <p:cNvSpPr txBox="1"/>
          <p:nvPr/>
        </p:nvSpPr>
        <p:spPr bwMode="black">
          <a:xfrm>
            <a:off x="8609557" y="6628489"/>
            <a:ext cx="213768" cy="138499"/>
          </a:xfrm>
          <a:prstGeom prst="rect">
            <a:avLst/>
          </a:prstGeom>
          <a:noFill/>
        </p:spPr>
        <p:txBody>
          <a:bodyPr wrap="none" lIns="0" tIns="0" rIns="72000" bIns="0" rtlCol="0">
            <a:spAutoFit/>
          </a:bodyPr>
          <a:lstStyle/>
          <a:p>
            <a:pPr marL="93663" indent="-93663" algn="r">
              <a:buClr>
                <a:schemeClr val="accent2"/>
              </a:buClr>
              <a:buFont typeface="Arial" pitchFamily="34" charset="0"/>
              <a:buNone/>
            </a:pPr>
            <a:fld id="{0BDC132A-5C91-4078-9777-31DA19A62E0A}" type="slidenum">
              <a:rPr lang="en-US" sz="900" baseline="0" noProof="0" smtClean="0">
                <a:solidFill>
                  <a:schemeClr val="bg1"/>
                </a:solidFill>
              </a:rPr>
              <a:pPr marL="93663" indent="-93663" algn="r">
                <a:buClr>
                  <a:schemeClr val="accent2"/>
                </a:buClr>
                <a:buFont typeface="Arial" pitchFamily="34" charset="0"/>
                <a:buNone/>
              </a:pPr>
              <a:t>‹#›</a:t>
            </a:fld>
            <a:endParaRPr lang="en-US" sz="900" noProof="0" dirty="0" smtClean="0">
              <a:solidFill>
                <a:schemeClr val="bg1"/>
              </a:solidFill>
            </a:endParaRPr>
          </a:p>
        </p:txBody>
      </p:sp>
      <p:sp>
        <p:nvSpPr>
          <p:cNvPr id="5" name="Information_Classification"/>
          <p:cNvSpPr txBox="1"/>
          <p:nvPr userDrawn="1"/>
        </p:nvSpPr>
        <p:spPr>
          <a:xfrm>
            <a:off x="10718800" y="6623893"/>
            <a:ext cx="1905000" cy="138499"/>
          </a:xfrm>
          <a:prstGeom prst="rect">
            <a:avLst/>
          </a:prstGeom>
          <a:noFill/>
        </p:spPr>
        <p:txBody>
          <a:bodyPr vert="horz" wrap="square" lIns="0" tIns="0" rIns="0" bIns="0" rtlCol="0">
            <a:spAutoFit/>
          </a:bodyPr>
          <a:lstStyle/>
          <a:p>
            <a:pPr algn="l" fontAlgn="base">
              <a:spcBef>
                <a:spcPts val="600"/>
              </a:spcBef>
              <a:spcAft>
                <a:spcPct val="0"/>
              </a:spcAft>
              <a:buClr>
                <a:srgbClr val="F0AB00"/>
              </a:buClr>
              <a:buSzPct val="80000"/>
            </a:pPr>
            <a:r>
              <a:rPr kumimoji="0" lang="en-US" sz="900" b="0" i="0" u="none" kern="0" baseline="0" dirty="0" smtClean="0">
                <a:solidFill>
                  <a:srgbClr val="FFFFFF"/>
                </a:solidFill>
                <a:latin typeface="Arial" panose="020B0604020202020204" pitchFamily="34" charset="0"/>
                <a:ea typeface="Arial Unicode MS" pitchFamily="34" charset="-128"/>
                <a:cs typeface="Arial Unicode MS" pitchFamily="34" charset="-128"/>
                <a:sym typeface="Arial" panose="020B0604020202020204" pitchFamily="34" charset="0"/>
              </a:rPr>
              <a:t>Customer</a:t>
            </a:r>
          </a:p>
        </p:txBody>
      </p:sp>
    </p:spTree>
    <p:extLst>
      <p:ext uri="{BB962C8B-B14F-4D97-AF65-F5344CB8AC3E}">
        <p14:creationId xmlns:p14="http://schemas.microsoft.com/office/powerpoint/2010/main" val="4280592124"/>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4" r:id="rId6"/>
    <p:sldLayoutId id="2147483745" r:id="rId7"/>
    <p:sldLayoutId id="2147483746" r:id="rId8"/>
    <p:sldLayoutId id="2147483747" r:id="rId9"/>
    <p:sldLayoutId id="2147483761"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 id="2147483757" r:id="rId20"/>
    <p:sldLayoutId id="2147483758" r:id="rId21"/>
    <p:sldLayoutId id="2147483759" r:id="rId22"/>
    <p:sldLayoutId id="2147483760" r:id="rId23"/>
  </p:sldLayoutIdLst>
  <p:timing>
    <p:tnLst>
      <p:par>
        <p:cTn id="1" dur="indefinite" restart="never" nodeType="tmRoot"/>
      </p:par>
    </p:tnLst>
  </p:timing>
  <p:hf hdr="0" ftr="0" dt="0"/>
  <p:txStyles>
    <p:titleStyle>
      <a:lvl1pPr algn="l" defTabSz="914400" rtl="0" eaLnBrk="1" latinLnBrk="0" hangingPunct="1">
        <a:spcBef>
          <a:spcPct val="0"/>
        </a:spcBef>
        <a:buNone/>
        <a:defRPr sz="2400" b="1" kern="1200">
          <a:solidFill>
            <a:schemeClr val="accent2"/>
          </a:solidFill>
          <a:latin typeface="+mj-lt"/>
          <a:ea typeface="+mj-ea"/>
          <a:cs typeface="+mj-cs"/>
        </a:defRPr>
      </a:lvl1pPr>
    </p:titleStyle>
    <p:bodyStyle>
      <a:lvl1pPr marL="0" indent="0" algn="l" defTabSz="914400" rtl="0" eaLnBrk="1" latinLnBrk="0" hangingPunct="1">
        <a:spcBef>
          <a:spcPts val="1620"/>
        </a:spcBef>
        <a:buClr>
          <a:schemeClr val="accent1"/>
        </a:buClr>
        <a:buSzPct val="80000"/>
        <a:buFontTx/>
        <a:buNone/>
        <a:defRPr sz="1800" b="1" kern="1200">
          <a:solidFill>
            <a:schemeClr val="tx1"/>
          </a:solidFill>
          <a:latin typeface="+mn-lt"/>
          <a:ea typeface="+mn-ea"/>
          <a:cs typeface="+mn-cs"/>
        </a:defRPr>
      </a:lvl1pPr>
      <a:lvl2pPr marL="0" indent="0" algn="l" defTabSz="914400" rtl="0" eaLnBrk="1" latinLnBrk="0" hangingPunct="1">
        <a:spcBef>
          <a:spcPts val="600"/>
        </a:spcBef>
        <a:buClr>
          <a:schemeClr val="accent1"/>
        </a:buClr>
        <a:buSzPct val="80000"/>
        <a:buFont typeface="Wingdings" pitchFamily="2" charset="2"/>
        <a:buNone/>
        <a:defRPr sz="1800" kern="1200">
          <a:solidFill>
            <a:schemeClr val="tx1"/>
          </a:solidFill>
          <a:latin typeface="+mn-lt"/>
          <a:ea typeface="+mn-ea"/>
          <a:cs typeface="+mn-cs"/>
        </a:defRPr>
      </a:lvl2pPr>
      <a:lvl3pPr marL="180000" indent="-180000" algn="l" defTabSz="914400" rtl="0" eaLnBrk="1" latinLnBrk="0" hangingPunct="1">
        <a:spcBef>
          <a:spcPts val="400"/>
        </a:spcBef>
        <a:buClr>
          <a:schemeClr val="accent1"/>
        </a:buClr>
        <a:buSzPct val="100000"/>
        <a:buFont typeface="Wingdings" pitchFamily="2" charset="2"/>
        <a:buChar char=""/>
        <a:defRPr sz="1600" kern="1200">
          <a:solidFill>
            <a:schemeClr val="tx1"/>
          </a:solidFill>
          <a:latin typeface="+mn-lt"/>
          <a:ea typeface="+mn-ea"/>
          <a:cs typeface="+mn-cs"/>
        </a:defRPr>
      </a:lvl3pPr>
      <a:lvl4pPr marL="360000" indent="-180000" algn="l" defTabSz="914400" rtl="0" eaLnBrk="1" latinLnBrk="0" hangingPunct="1">
        <a:spcBef>
          <a:spcPts val="400"/>
        </a:spcBef>
        <a:buClr>
          <a:schemeClr val="tx1"/>
        </a:buClr>
        <a:buSzPct val="100000"/>
        <a:buFont typeface="Arial" pitchFamily="34" charset="0"/>
        <a:buChar char="–"/>
        <a:defRPr sz="1400" kern="1200">
          <a:solidFill>
            <a:schemeClr val="tx1"/>
          </a:solidFill>
          <a:latin typeface="+mn-lt"/>
          <a:ea typeface="+mn-ea"/>
          <a:cs typeface="+mn-cs"/>
        </a:defRPr>
      </a:lvl4pPr>
      <a:lvl5pPr marL="541338" indent="-180000" algn="l" defTabSz="914400" rtl="0" eaLnBrk="1" latinLnBrk="0" hangingPunct="1">
        <a:spcBef>
          <a:spcPts val="250"/>
        </a:spcBef>
        <a:buClr>
          <a:schemeClr val="tx1"/>
        </a:buClr>
        <a:buSzPct val="100000"/>
        <a:buFont typeface="Courier New"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0"/>
            <a:ext cx="9144000" cy="6859588"/>
          </a:xfrm>
          <a:prstGeom prst="rect">
            <a:avLst/>
          </a:prstGeom>
        </p:spPr>
      </p:pic>
      <p:pic>
        <p:nvPicPr>
          <p:cNvPr id="21" name="Pictur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
        <p:nvSpPr>
          <p:cNvPr id="5" name="Rectangle 4"/>
          <p:cNvSpPr/>
          <p:nvPr/>
        </p:nvSpPr>
        <p:spPr bwMode="gray">
          <a:xfrm>
            <a:off x="324000" y="-1"/>
            <a:ext cx="8496000" cy="2160000"/>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7" name="Rectangle 6"/>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en-US" sz="4000" dirty="0" smtClean="0"/>
              <a:t>Contract Liability, </a:t>
            </a:r>
            <a:r>
              <a:rPr lang="en-US" sz="4000" dirty="0" smtClean="0"/>
              <a:t>Contract </a:t>
            </a:r>
            <a:r>
              <a:rPr lang="en-US" sz="4000" dirty="0" smtClean="0"/>
              <a:t>Asset and Receivable</a:t>
            </a:r>
            <a:endParaRPr lang="en-US" sz="4000" dirty="0"/>
          </a:p>
        </p:txBody>
      </p:sp>
      <p:sp>
        <p:nvSpPr>
          <p:cNvPr id="3" name="Subtitle 2"/>
          <p:cNvSpPr>
            <a:spLocks noGrp="1"/>
          </p:cNvSpPr>
          <p:nvPr>
            <p:ph type="subTitle" idx="1"/>
          </p:nvPr>
        </p:nvSpPr>
        <p:spPr>
          <a:xfrm>
            <a:off x="414000" y="1582466"/>
            <a:ext cx="7740000" cy="492443"/>
          </a:xfrm>
        </p:spPr>
        <p:txBody>
          <a:bodyPr/>
          <a:lstStyle/>
          <a:p>
            <a:r>
              <a:rPr lang="en-US" dirty="0" smtClean="0"/>
              <a:t>Xin Fang, Product Owner</a:t>
            </a:r>
          </a:p>
          <a:p>
            <a:r>
              <a:rPr lang="en-US" dirty="0" smtClean="0"/>
              <a:t>SAP </a:t>
            </a:r>
            <a:r>
              <a:rPr lang="en-US" dirty="0" err="1" smtClean="0"/>
              <a:t>LoB</a:t>
            </a:r>
            <a:r>
              <a:rPr lang="en-US" dirty="0" smtClean="0"/>
              <a:t> Finance</a:t>
            </a:r>
          </a:p>
        </p:txBody>
      </p:sp>
      <p:sp>
        <p:nvSpPr>
          <p:cNvPr id="4" name="ConfidentialFlag"/>
          <p:cNvSpPr txBox="1"/>
          <p:nvPr/>
        </p:nvSpPr>
        <p:spPr>
          <a:xfrm>
            <a:off x="6947888" y="187553"/>
            <a:ext cx="1799971" cy="215444"/>
          </a:xfrm>
          <a:prstGeom prst="rect">
            <a:avLst/>
          </a:prstGeom>
          <a:noFill/>
        </p:spPr>
        <p:txBody>
          <a:bodyPr vert="horz" wrap="square" lIns="0" tIns="0" rIns="0" bIns="0" rtlCol="0" anchor="b">
            <a:spAutoFit/>
          </a:bodyPr>
          <a:lstStyle/>
          <a:p>
            <a:pPr algn="r" fontAlgn="base">
              <a:spcBef>
                <a:spcPts val="600"/>
              </a:spcBef>
              <a:spcAft>
                <a:spcPct val="0"/>
              </a:spcAft>
              <a:buClr>
                <a:srgbClr val="F0AB00"/>
              </a:buClr>
              <a:buSzPct val="80000"/>
            </a:pPr>
            <a:r>
              <a:rPr lang="en-US" sz="1400" kern="0" smtClean="0">
                <a:solidFill>
                  <a:srgbClr val="000000"/>
                </a:solidFill>
                <a:latin typeface="Arial" panose="020B0604020202020204" pitchFamily="34" charset="0"/>
                <a:ea typeface="Arial Unicode MS" pitchFamily="34" charset="-128"/>
                <a:cs typeface="Arial Unicode MS" pitchFamily="34" charset="-128"/>
              </a:rPr>
              <a:t>Customer</a:t>
            </a:r>
            <a:endParaRPr lang="en-US" sz="1400" kern="0" dirty="0" err="1" smtClean="0">
              <a:solidFill>
                <a:srgbClr val="000000"/>
              </a:solidFill>
              <a:latin typeface="Arial" panose="020B0604020202020204"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21136600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Agenda</a:t>
            </a:r>
            <a:endParaRPr lang="en-US" dirty="0"/>
          </a:p>
        </p:txBody>
      </p:sp>
      <p:sp>
        <p:nvSpPr>
          <p:cNvPr id="3" name="Text Placeholder 2"/>
          <p:cNvSpPr>
            <a:spLocks noGrp="1"/>
          </p:cNvSpPr>
          <p:nvPr>
            <p:ph type="body" sz="quarter" idx="10"/>
          </p:nvPr>
        </p:nvSpPr>
        <p:spPr/>
        <p:txBody>
          <a:bodyPr/>
          <a:lstStyle/>
          <a:p>
            <a:r>
              <a:rPr lang="en-US" dirty="0" smtClean="0"/>
              <a:t>Contract Liability/Contract Asset/Receivable in IFRS 15</a:t>
            </a:r>
          </a:p>
          <a:p>
            <a:pPr marL="285750" indent="-285750">
              <a:buFont typeface="Arial" panose="020B0604020202020204" pitchFamily="34" charset="0"/>
              <a:buChar char="•"/>
            </a:pPr>
            <a:r>
              <a:rPr lang="en-US" dirty="0" smtClean="0"/>
              <a:t>Definition and Example of IFRS 15.</a:t>
            </a:r>
          </a:p>
          <a:p>
            <a:pPr marL="285750" indent="-285750">
              <a:buFont typeface="Arial" panose="020B0604020202020204" pitchFamily="34" charset="0"/>
              <a:buChar char="•"/>
            </a:pPr>
            <a:r>
              <a:rPr lang="en-US" altLang="zh-CN" dirty="0" smtClean="0"/>
              <a:t>Impact </a:t>
            </a:r>
            <a:r>
              <a:rPr lang="en-US" dirty="0" smtClean="0"/>
              <a:t>Multi-Element</a:t>
            </a:r>
            <a:r>
              <a:rPr lang="en-US" altLang="zh-CN" dirty="0" smtClean="0"/>
              <a:t>-Arrangement </a:t>
            </a:r>
          </a:p>
          <a:p>
            <a:pPr marL="285750" indent="-285750">
              <a:buFont typeface="Arial" panose="020B0604020202020204" pitchFamily="34" charset="0"/>
              <a:buChar char="•"/>
            </a:pPr>
            <a:r>
              <a:rPr lang="en-US" altLang="zh-CN" dirty="0" smtClean="0"/>
              <a:t>Impact on Foreign Currency Handling</a:t>
            </a:r>
          </a:p>
          <a:p>
            <a:r>
              <a:rPr lang="en-US" dirty="0" smtClean="0"/>
              <a:t>Contract Liability/Contract Asset/Receivable in RAR</a:t>
            </a:r>
          </a:p>
          <a:p>
            <a:pPr marL="285750" indent="-285750">
              <a:buFont typeface="Arial" panose="020B0604020202020204" pitchFamily="34" charset="0"/>
              <a:buChar char="•"/>
            </a:pPr>
            <a:r>
              <a:rPr lang="en-US" altLang="zh-CN" dirty="0" smtClean="0"/>
              <a:t>Booking of </a:t>
            </a:r>
            <a:r>
              <a:rPr lang="en-US" altLang="zh-CN" dirty="0" err="1" smtClean="0"/>
              <a:t>Recevible</a:t>
            </a:r>
            <a:r>
              <a:rPr lang="en-US" altLang="zh-CN" dirty="0" smtClean="0"/>
              <a:t> </a:t>
            </a:r>
            <a:endParaRPr lang="en-US" dirty="0" smtClean="0"/>
          </a:p>
        </p:txBody>
      </p:sp>
    </p:spTree>
    <p:extLst>
      <p:ext uri="{BB962C8B-B14F-4D97-AF65-F5344CB8AC3E}">
        <p14:creationId xmlns:p14="http://schemas.microsoft.com/office/powerpoint/2010/main" val="4240825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Contract Asset</a:t>
            </a:r>
            <a:endParaRPr lang="en-US" dirty="0"/>
          </a:p>
        </p:txBody>
      </p:sp>
      <p:sp>
        <p:nvSpPr>
          <p:cNvPr id="3" name="Text Placeholder 2"/>
          <p:cNvSpPr>
            <a:spLocks noGrp="1"/>
          </p:cNvSpPr>
          <p:nvPr>
            <p:ph type="body" sz="quarter" idx="10"/>
          </p:nvPr>
        </p:nvSpPr>
        <p:spPr/>
        <p:txBody>
          <a:bodyPr/>
          <a:lstStyle/>
          <a:p>
            <a:pPr lvl="0"/>
            <a:r>
              <a:rPr lang="en-US" b="0" dirty="0" smtClean="0"/>
              <a:t>IFRS 15 definition:</a:t>
            </a:r>
          </a:p>
          <a:p>
            <a:pPr lvl="0"/>
            <a:r>
              <a:rPr lang="en-US" b="0" dirty="0" smtClean="0"/>
              <a:t>If </a:t>
            </a:r>
            <a:r>
              <a:rPr lang="en-US" b="0" dirty="0"/>
              <a:t>an entity performs by transferring goods or services to a customer before the</a:t>
            </a:r>
            <a:br>
              <a:rPr lang="en-US" b="0" dirty="0"/>
            </a:br>
            <a:r>
              <a:rPr lang="en-US" b="0" dirty="0"/>
              <a:t>customer </a:t>
            </a:r>
            <a:r>
              <a:rPr lang="en-US" dirty="0"/>
              <a:t>pays</a:t>
            </a:r>
            <a:r>
              <a:rPr lang="en-US" b="0" dirty="0"/>
              <a:t> consideration or before </a:t>
            </a:r>
            <a:r>
              <a:rPr lang="en-US" dirty="0"/>
              <a:t>payment is </a:t>
            </a:r>
            <a:r>
              <a:rPr lang="en-US" dirty="0" smtClean="0"/>
              <a:t>due</a:t>
            </a:r>
            <a:r>
              <a:rPr lang="en-US" b="0" dirty="0" smtClean="0"/>
              <a:t>, the </a:t>
            </a:r>
            <a:r>
              <a:rPr lang="en-US" b="0" dirty="0"/>
              <a:t>entity shall present</a:t>
            </a:r>
            <a:br>
              <a:rPr lang="en-US" b="0" dirty="0"/>
            </a:br>
            <a:r>
              <a:rPr lang="en-US" b="0" dirty="0"/>
              <a:t>the contract as a contract </a:t>
            </a:r>
            <a:r>
              <a:rPr lang="en-US" b="0" dirty="0" smtClean="0"/>
              <a:t>asset excluding </a:t>
            </a:r>
            <a:r>
              <a:rPr lang="en-US" dirty="0"/>
              <a:t>r</a:t>
            </a:r>
            <a:r>
              <a:rPr lang="en-US" dirty="0" smtClean="0"/>
              <a:t>eceivable</a:t>
            </a:r>
            <a:r>
              <a:rPr lang="en-US" b="0" dirty="0" smtClean="0"/>
              <a:t>.</a:t>
            </a:r>
          </a:p>
          <a:p>
            <a:pPr lvl="0"/>
            <a:r>
              <a:rPr lang="en-US" b="0" dirty="0" smtClean="0"/>
              <a:t>RAR calculation:</a:t>
            </a:r>
          </a:p>
          <a:p>
            <a:r>
              <a:rPr lang="en-US" dirty="0">
                <a:solidFill>
                  <a:srgbClr val="000000"/>
                </a:solidFill>
              </a:rPr>
              <a:t>Contact asset = Max{(fulfilled revenue – </a:t>
            </a:r>
            <a:r>
              <a:rPr lang="en-US" dirty="0" smtClean="0">
                <a:solidFill>
                  <a:srgbClr val="000000"/>
                </a:solidFill>
              </a:rPr>
              <a:t>Max(Receivable, </a:t>
            </a:r>
            <a:r>
              <a:rPr lang="en-US" dirty="0">
                <a:solidFill>
                  <a:srgbClr val="000000"/>
                </a:solidFill>
              </a:rPr>
              <a:t>invoice due amount), 0}</a:t>
            </a:r>
            <a:endParaRPr lang="en-US" sz="2800" dirty="0">
              <a:solidFill>
                <a:srgbClr val="000000"/>
              </a:solidFill>
            </a:endParaRPr>
          </a:p>
          <a:p>
            <a:pPr lvl="0"/>
            <a:endParaRPr lang="en-US" b="0" dirty="0" smtClean="0"/>
          </a:p>
          <a:p>
            <a:pPr lvl="0"/>
            <a:r>
              <a:rPr lang="en-US" dirty="0" smtClean="0"/>
              <a:t> </a:t>
            </a:r>
            <a:r>
              <a:rPr lang="en-US" dirty="0"/>
              <a:t/>
            </a:r>
            <a:br>
              <a:rPr lang="en-US" dirty="0"/>
            </a:br>
            <a:r>
              <a:rPr lang="en-US" dirty="0"/>
              <a:t/>
            </a:r>
            <a:br>
              <a:rPr lang="en-US" dirty="0"/>
            </a:br>
            <a:r>
              <a:rPr lang="en-US" dirty="0"/>
              <a:t> </a:t>
            </a:r>
            <a:br>
              <a:rPr lang="en-US" dirty="0"/>
            </a:br>
            <a:endParaRPr lang="en-US" dirty="0" smtClean="0"/>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Recognizing Receivable at Invoice Due</a:t>
            </a:r>
            <a:endParaRPr lang="en-US" sz="2000" b="0" dirty="0"/>
          </a:p>
        </p:txBody>
      </p:sp>
      <p:sp>
        <p:nvSpPr>
          <p:cNvPr id="3" name="Text Placeholder 2"/>
          <p:cNvSpPr>
            <a:spLocks noGrp="1"/>
          </p:cNvSpPr>
          <p:nvPr>
            <p:ph type="body" sz="quarter" idx="10"/>
          </p:nvPr>
        </p:nvSpPr>
        <p:spPr>
          <a:xfrm>
            <a:off x="324000" y="1349865"/>
            <a:ext cx="8494713" cy="4391026"/>
          </a:xfrm>
        </p:spPr>
        <p:txBody>
          <a:bodyPr/>
          <a:lstStyle/>
          <a:p>
            <a:pPr lvl="0">
              <a:spcBef>
                <a:spcPts val="600"/>
              </a:spcBef>
            </a:pPr>
            <a:r>
              <a:rPr lang="en-US" sz="1600" b="0" dirty="0" smtClean="0"/>
              <a:t>Timing of Receivable: </a:t>
            </a:r>
            <a:r>
              <a:rPr lang="en-US" sz="1600" dirty="0" smtClean="0"/>
              <a:t>at invoice due or revenue is recognized in advance</a:t>
            </a:r>
          </a:p>
          <a:p>
            <a:pPr lvl="0">
              <a:spcBef>
                <a:spcPts val="600"/>
              </a:spcBef>
            </a:pPr>
            <a:r>
              <a:rPr lang="en-US" sz="1600" dirty="0" smtClean="0"/>
              <a:t>IFRS 15 Illustrative Example 38 C</a:t>
            </a:r>
            <a:r>
              <a:rPr lang="en-US" altLang="zh-CN" sz="1600" dirty="0" smtClean="0"/>
              <a:t>ase B:</a:t>
            </a:r>
          </a:p>
          <a:p>
            <a:pPr lvl="0">
              <a:spcBef>
                <a:spcPts val="600"/>
              </a:spcBef>
            </a:pPr>
            <a:r>
              <a:rPr lang="en-US" sz="1400" b="0" dirty="0" smtClean="0"/>
              <a:t>On </a:t>
            </a:r>
            <a:r>
              <a:rPr lang="en-US" sz="1400" b="0" dirty="0"/>
              <a:t>1 January 20X9, an entity enters into a </a:t>
            </a:r>
            <a:r>
              <a:rPr lang="en-US" sz="1400" b="0" dirty="0" smtClean="0"/>
              <a:t>non-cancellable </a:t>
            </a:r>
            <a:r>
              <a:rPr lang="en-US" sz="1400" b="0" dirty="0"/>
              <a:t>contract to transfer </a:t>
            </a:r>
            <a:r>
              <a:rPr lang="en-US" sz="1400" b="0" dirty="0" smtClean="0"/>
              <a:t>a product </a:t>
            </a:r>
            <a:r>
              <a:rPr lang="en-US" sz="1400" b="0" dirty="0"/>
              <a:t>to a customer on 31 March 20X9. The contract requires the customer </a:t>
            </a:r>
            <a:r>
              <a:rPr lang="en-US" sz="1400" b="0" dirty="0" smtClean="0"/>
              <a:t>to pay </a:t>
            </a:r>
            <a:r>
              <a:rPr lang="en-US" sz="1400" b="0" dirty="0"/>
              <a:t>consideration of CU1,000 in advance </a:t>
            </a:r>
            <a:r>
              <a:rPr lang="en-US" sz="1400" dirty="0"/>
              <a:t>on 31 </a:t>
            </a:r>
            <a:r>
              <a:rPr lang="en-US" sz="1400" dirty="0" smtClean="0"/>
              <a:t>January </a:t>
            </a:r>
            <a:r>
              <a:rPr lang="en-US" sz="1400" dirty="0"/>
              <a:t>20X9</a:t>
            </a:r>
            <a:r>
              <a:rPr lang="en-US" sz="1400" b="0" dirty="0"/>
              <a:t>. The </a:t>
            </a:r>
            <a:r>
              <a:rPr lang="en-US" sz="1400" b="0" dirty="0" smtClean="0"/>
              <a:t>customer pays </a:t>
            </a:r>
            <a:r>
              <a:rPr lang="en-US" sz="1400" b="0" dirty="0"/>
              <a:t>the consideration on 1 March 20X9. </a:t>
            </a:r>
            <a:endParaRPr lang="en-US" sz="1400" b="0" dirty="0" smtClean="0"/>
          </a:p>
          <a:p>
            <a:pPr marL="342900" lvl="0" indent="-342900">
              <a:spcBef>
                <a:spcPts val="600"/>
              </a:spcBef>
              <a:buAutoNum type="alphaLcParenBoth"/>
            </a:pPr>
            <a:r>
              <a:rPr lang="en-US" sz="1400" b="0" dirty="0" smtClean="0"/>
              <a:t>The </a:t>
            </a:r>
            <a:r>
              <a:rPr lang="en-US" sz="1400" b="0" dirty="0"/>
              <a:t>amount of consideration is </a:t>
            </a:r>
            <a:r>
              <a:rPr lang="en-US" sz="1400" dirty="0"/>
              <a:t>due on 31 January 20X9 </a:t>
            </a:r>
            <a:r>
              <a:rPr lang="en-US" sz="1400" b="0" dirty="0"/>
              <a:t>(which is </a:t>
            </a:r>
            <a:r>
              <a:rPr lang="en-US" sz="1400" b="0" dirty="0" smtClean="0"/>
              <a:t>when the </a:t>
            </a:r>
            <a:r>
              <a:rPr lang="en-US" sz="1400" b="0" dirty="0"/>
              <a:t>entity </a:t>
            </a:r>
            <a:r>
              <a:rPr lang="en-US" sz="1400" dirty="0" smtClean="0"/>
              <a:t>recognizes a receivable</a:t>
            </a:r>
            <a:r>
              <a:rPr lang="en-US" sz="1400" b="0" dirty="0" smtClean="0"/>
              <a:t> </a:t>
            </a:r>
            <a:r>
              <a:rPr lang="en-US" sz="1400" b="0" dirty="0"/>
              <a:t>because it has an unconditional </a:t>
            </a:r>
            <a:r>
              <a:rPr lang="en-US" sz="1400" b="0" dirty="0" smtClean="0"/>
              <a:t>right to </a:t>
            </a:r>
            <a:r>
              <a:rPr lang="en-US" sz="1400" b="0" dirty="0"/>
              <a:t>consideration):</a:t>
            </a:r>
            <a:br>
              <a:rPr lang="en-US" sz="1400" b="0" dirty="0"/>
            </a:br>
            <a:r>
              <a:rPr lang="en-US" sz="1400" b="0" dirty="0" smtClean="0"/>
              <a:t>    Receivable 	 CU1,000</a:t>
            </a:r>
            <a:r>
              <a:rPr lang="en-US" sz="1400" b="0" dirty="0"/>
              <a:t/>
            </a:r>
            <a:br>
              <a:rPr lang="en-US" sz="1400" b="0" dirty="0"/>
            </a:br>
            <a:r>
              <a:rPr lang="en-US" sz="1400" b="0" dirty="0"/>
              <a:t>	</a:t>
            </a:r>
            <a:r>
              <a:rPr lang="en-US" sz="1400" b="0" dirty="0" smtClean="0"/>
              <a:t>Contract </a:t>
            </a:r>
            <a:r>
              <a:rPr lang="en-US" sz="1400" b="0" dirty="0"/>
              <a:t>liability </a:t>
            </a:r>
            <a:r>
              <a:rPr lang="en-US" sz="1400" b="0" dirty="0" smtClean="0"/>
              <a:t>CU1,000</a:t>
            </a:r>
          </a:p>
          <a:p>
            <a:pPr marL="342900" lvl="0" indent="-342900">
              <a:spcBef>
                <a:spcPts val="600"/>
              </a:spcBef>
              <a:buAutoNum type="alphaLcParenBoth"/>
            </a:pPr>
            <a:r>
              <a:rPr lang="en-US" sz="1400" b="0" dirty="0" smtClean="0"/>
              <a:t>The </a:t>
            </a:r>
            <a:r>
              <a:rPr lang="en-US" sz="1400" b="0" dirty="0"/>
              <a:t>entity receives the cash on 1 March 20X9:</a:t>
            </a:r>
            <a:br>
              <a:rPr lang="en-US" sz="1400" b="0" dirty="0"/>
            </a:br>
            <a:r>
              <a:rPr lang="en-US" sz="1400" b="0" dirty="0" smtClean="0"/>
              <a:t>    Cash                        CU1,000</a:t>
            </a:r>
            <a:r>
              <a:rPr lang="en-US" sz="1400" b="0" dirty="0"/>
              <a:t/>
            </a:r>
            <a:br>
              <a:rPr lang="en-US" sz="1400" b="0" dirty="0"/>
            </a:br>
            <a:r>
              <a:rPr lang="en-US" sz="1400" b="0" dirty="0" smtClean="0"/>
              <a:t>           Receivable           CU1,000</a:t>
            </a:r>
          </a:p>
          <a:p>
            <a:pPr marL="342900" lvl="0" indent="-342900">
              <a:spcBef>
                <a:spcPts val="600"/>
              </a:spcBef>
              <a:buAutoNum type="alphaLcParenBoth"/>
            </a:pPr>
            <a:r>
              <a:rPr lang="en-US" sz="1400" b="0" dirty="0" smtClean="0"/>
              <a:t>The </a:t>
            </a:r>
            <a:r>
              <a:rPr lang="en-US" sz="1400" b="0" dirty="0"/>
              <a:t>entity satisfies the performance obligation on 31 March 20X9:</a:t>
            </a:r>
            <a:br>
              <a:rPr lang="en-US" sz="1400" b="0" dirty="0"/>
            </a:br>
            <a:r>
              <a:rPr lang="en-US" sz="1400" b="0" dirty="0" smtClean="0"/>
              <a:t>    Contract </a:t>
            </a:r>
            <a:r>
              <a:rPr lang="en-US" sz="1400" b="0" dirty="0"/>
              <a:t>liability </a:t>
            </a:r>
            <a:r>
              <a:rPr lang="en-US" sz="1400" b="0" dirty="0" smtClean="0"/>
              <a:t>       CU1,000</a:t>
            </a:r>
            <a:r>
              <a:rPr lang="en-US" sz="1400" b="0" dirty="0"/>
              <a:t/>
            </a:r>
            <a:br>
              <a:rPr lang="en-US" sz="1400" b="0" dirty="0"/>
            </a:br>
            <a:r>
              <a:rPr lang="en-US" sz="1400" b="0" dirty="0" smtClean="0"/>
              <a:t>          Revenue                 CU1,000</a:t>
            </a:r>
            <a:r>
              <a:rPr lang="en-US" sz="1400" dirty="0" smtClean="0"/>
              <a:t> </a:t>
            </a:r>
          </a:p>
          <a:p>
            <a:pPr lvl="0">
              <a:spcBef>
                <a:spcPts val="600"/>
              </a:spcBef>
            </a:pPr>
            <a:r>
              <a:rPr lang="en-US" dirty="0" smtClean="0"/>
              <a:t>IE 200: </a:t>
            </a:r>
            <a:r>
              <a:rPr lang="en-US" sz="1400" dirty="0" smtClean="0"/>
              <a:t>If </a:t>
            </a:r>
            <a:r>
              <a:rPr lang="en-US" sz="1400" dirty="0"/>
              <a:t>the entity issued the invoice before 31 January 20X9</a:t>
            </a:r>
            <a:r>
              <a:rPr lang="en-US" sz="1400" b="0" dirty="0"/>
              <a:t> (the due date of </a:t>
            </a:r>
            <a:r>
              <a:rPr lang="en-US" sz="1400" b="0" dirty="0" smtClean="0"/>
              <a:t>the consideration</a:t>
            </a:r>
            <a:r>
              <a:rPr lang="en-US" sz="1400" dirty="0"/>
              <a:t>), the </a:t>
            </a:r>
            <a:r>
              <a:rPr lang="en-US" sz="1400" dirty="0" smtClean="0"/>
              <a:t>entity </a:t>
            </a:r>
            <a:r>
              <a:rPr lang="en-US" sz="1400" dirty="0"/>
              <a:t>would not present the receivable and the </a:t>
            </a:r>
            <a:r>
              <a:rPr lang="en-US" sz="1400" dirty="0" smtClean="0"/>
              <a:t>contract liability </a:t>
            </a:r>
            <a:r>
              <a:rPr lang="en-US" sz="1400" dirty="0"/>
              <a:t>on a gross basis</a:t>
            </a:r>
            <a:r>
              <a:rPr lang="en-US" sz="1400" b="0" dirty="0"/>
              <a:t> in the statement of financial position because the </a:t>
            </a:r>
            <a:r>
              <a:rPr lang="en-US" sz="1400" b="0" dirty="0" smtClean="0"/>
              <a:t>entity does </a:t>
            </a:r>
            <a:r>
              <a:rPr lang="en-US" sz="1400" b="0" dirty="0"/>
              <a:t>not yet have a right to consideration that is unconditional.</a:t>
            </a:r>
            <a:r>
              <a:rPr lang="en-US" sz="1400" dirty="0"/>
              <a:t> </a:t>
            </a:r>
            <a:br>
              <a:rPr lang="en-US" sz="1400" dirty="0"/>
            </a:br>
            <a:endParaRPr lang="en-US" sz="1400" dirty="0" smtClean="0"/>
          </a:p>
          <a:p>
            <a:pPr lvl="0">
              <a:spcBef>
                <a:spcPts val="600"/>
              </a:spcBef>
            </a:pPr>
            <a:endParaRPr lang="en-US" dirty="0"/>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 CL/CA</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848764142"/>
              </p:ext>
            </p:extLst>
          </p:nvPr>
        </p:nvGraphicFramePr>
        <p:xfrm>
          <a:off x="323850" y="1377732"/>
          <a:ext cx="8496299" cy="1276208"/>
        </p:xfrm>
        <a:graphic>
          <a:graphicData uri="http://schemas.openxmlformats.org/drawingml/2006/table">
            <a:tbl>
              <a:tblPr/>
              <a:tblGrid>
                <a:gridCol w="563485"/>
                <a:gridCol w="765987"/>
                <a:gridCol w="801206"/>
                <a:gridCol w="645660"/>
                <a:gridCol w="810010"/>
                <a:gridCol w="774792"/>
                <a:gridCol w="868706"/>
                <a:gridCol w="695552"/>
                <a:gridCol w="833489"/>
                <a:gridCol w="704356"/>
                <a:gridCol w="1033056"/>
              </a:tblGrid>
              <a:tr h="319052">
                <a:tc>
                  <a:txBody>
                    <a:bodyPr/>
                    <a:lstStyle/>
                    <a:p>
                      <a:pPr algn="l" fontAlgn="b"/>
                      <a:r>
                        <a:rPr lang="en-US" sz="1000" b="0" i="0" u="none" strike="noStrike">
                          <a:solidFill>
                            <a:srgbClr val="000000"/>
                          </a:solidFill>
                          <a:effectLst/>
                          <a:latin typeface="Calibri" panose="020F0502020204030204" pitchFamily="34" charset="0"/>
                        </a:rPr>
                        <a:t>Scenario</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Cont.price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SSP</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Alloc.Price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Alloc.Effect</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Fulfillmnt</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Revenue Recognized</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Invoice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Invoice due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Receivable</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US" sz="1000" b="0" i="0" u="none" strike="noStrike">
                          <a:solidFill>
                            <a:srgbClr val="000000"/>
                          </a:solidFill>
                          <a:effectLst/>
                          <a:latin typeface="Calibri" panose="020F0502020204030204" pitchFamily="34" charset="0"/>
                        </a:rPr>
                        <a:t>Contract Asset</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319052">
                <a:tc>
                  <a:txBody>
                    <a:bodyPr/>
                    <a:lstStyle/>
                    <a:p>
                      <a:pPr algn="l" fontAlgn="b"/>
                      <a:r>
                        <a:rPr lang="en-US" sz="1000" b="0" i="0" u="none" strike="noStrike">
                          <a:solidFill>
                            <a:srgbClr val="000000"/>
                          </a:solidFill>
                          <a:effectLst/>
                          <a:latin typeface="Calibri" panose="020F0502020204030204" pitchFamily="34" charset="0"/>
                        </a:rPr>
                        <a:t>POB1</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178.00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293.27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175.37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00" b="0" i="0" u="none" strike="noStrike">
                          <a:solidFill>
                            <a:srgbClr val="000000"/>
                          </a:solidFill>
                          <a:effectLst/>
                          <a:latin typeface="Calibri" panose="020F0502020204030204" pitchFamily="34" charset="0"/>
                        </a:rPr>
                        <a:t>100%</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175.37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178.00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175.37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19052">
                <a:tc>
                  <a:txBody>
                    <a:bodyPr/>
                    <a:lstStyle/>
                    <a:p>
                      <a:pPr algn="l" fontAlgn="b"/>
                      <a:r>
                        <a:rPr lang="en-US" sz="1000" b="0" i="0" u="none" strike="noStrike">
                          <a:solidFill>
                            <a:srgbClr val="000000"/>
                          </a:solidFill>
                          <a:effectLst/>
                          <a:latin typeface="Calibri" panose="020F0502020204030204" pitchFamily="34" charset="0"/>
                        </a:rPr>
                        <a:t>POB2</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269.00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454.23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271.63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(2.63)</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00" b="0" i="0" u="none" strike="noStrike">
                          <a:solidFill>
                            <a:srgbClr val="000000"/>
                          </a:solidFill>
                          <a:effectLst/>
                          <a:latin typeface="Calibri" panose="020F0502020204030204" pitchFamily="34" charset="0"/>
                        </a:rPr>
                        <a:t>100%</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271.63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269.00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269.00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2.63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19052">
                <a:tc>
                  <a:txBody>
                    <a:bodyPr/>
                    <a:lstStyle/>
                    <a:p>
                      <a:pPr algn="l" fontAlgn="b"/>
                      <a:r>
                        <a:rPr lang="en-US" sz="1000" b="0" i="0" u="none" strike="noStrike">
                          <a:solidFill>
                            <a:srgbClr val="000000"/>
                          </a:solidFill>
                          <a:effectLst/>
                          <a:latin typeface="Calibri" panose="020F0502020204030204" pitchFamily="34" charset="0"/>
                        </a:rPr>
                        <a:t>SUM</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447.00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747.50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447.00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447.00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 $       444.37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Calibri" panose="020F0502020204030204" pitchFamily="34" charset="0"/>
                        </a:rPr>
                        <a:t> $                        2.63 </a:t>
                      </a:r>
                    </a:p>
                  </a:txBody>
                  <a:tcPr marL="8814" marR="8814" marT="881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8" name="TextBox 7"/>
          <p:cNvSpPr txBox="1"/>
          <p:nvPr/>
        </p:nvSpPr>
        <p:spPr>
          <a:xfrm>
            <a:off x="323851" y="2960639"/>
            <a:ext cx="8496150" cy="2323713"/>
          </a:xfrm>
          <a:prstGeom prst="rect">
            <a:avLst/>
          </a:prstGeom>
          <a:noFill/>
        </p:spPr>
        <p:txBody>
          <a:bodyPr wrap="square" lIns="0" tIns="0" rIns="0" bIns="0" rtlCol="0">
            <a:spAutoFit/>
          </a:bodyPr>
          <a:lstStyle/>
          <a:p>
            <a:pPr marL="285750" indent="-285750" fontAlgn="base">
              <a:spcBef>
                <a:spcPts val="600"/>
              </a:spcBef>
              <a:spcAft>
                <a:spcPct val="0"/>
              </a:spcAft>
              <a:buClr>
                <a:srgbClr val="F0AB00"/>
              </a:buClr>
              <a:buSzPct val="80000"/>
              <a:buFont typeface="Arial" panose="020B0604020202020204" pitchFamily="34" charset="0"/>
              <a:buChar char="•"/>
            </a:pPr>
            <a:r>
              <a:rPr lang="en-US" sz="1400" kern="0" dirty="0" smtClean="0">
                <a:ea typeface="Arial Unicode MS" pitchFamily="34" charset="-128"/>
                <a:cs typeface="Arial Unicode MS" pitchFamily="34" charset="-128"/>
              </a:rPr>
              <a:t>Contract Asset and </a:t>
            </a:r>
            <a:r>
              <a:rPr lang="en-US" altLang="zh-CN" sz="1400" kern="0" dirty="0" smtClean="0">
                <a:ea typeface="Arial Unicode MS" pitchFamily="34" charset="-128"/>
                <a:cs typeface="Arial Unicode MS" pitchFamily="34" charset="-128"/>
              </a:rPr>
              <a:t>Liability shall be presented by netting on contract level per Standard</a:t>
            </a:r>
          </a:p>
          <a:p>
            <a:pPr fontAlgn="base">
              <a:spcBef>
                <a:spcPts val="600"/>
              </a:spcBef>
              <a:spcAft>
                <a:spcPct val="0"/>
              </a:spcAft>
              <a:buClr>
                <a:srgbClr val="F0AB00"/>
              </a:buClr>
              <a:buSzPct val="80000"/>
            </a:pPr>
            <a:r>
              <a:rPr lang="en-US" sz="1400" b="1" dirty="0" smtClean="0"/>
              <a:t>IFRS 15 </a:t>
            </a:r>
            <a:r>
              <a:rPr lang="en-US" altLang="zh-CN" sz="1400" b="1" dirty="0" smtClean="0"/>
              <a:t>paragraph 105</a:t>
            </a:r>
            <a:r>
              <a:rPr lang="zh-CN" altLang="en-US" sz="1400" b="1" dirty="0" smtClean="0"/>
              <a:t>： </a:t>
            </a:r>
            <a:r>
              <a:rPr lang="en-US" sz="1400" b="1" dirty="0" smtClean="0"/>
              <a:t>When </a:t>
            </a:r>
            <a:r>
              <a:rPr lang="en-US" sz="1400" b="1" dirty="0"/>
              <a:t>either party to a contract has performed, an entity shall present the</a:t>
            </a:r>
            <a:br>
              <a:rPr lang="en-US" sz="1400" b="1" dirty="0"/>
            </a:br>
            <a:r>
              <a:rPr lang="en-US" sz="1400" b="1" dirty="0"/>
              <a:t>contract in the statement of financial position as a contract asset or </a:t>
            </a:r>
            <a:r>
              <a:rPr lang="en-US" sz="1400" b="1" dirty="0" smtClean="0"/>
              <a:t>a contract </a:t>
            </a:r>
            <a:r>
              <a:rPr lang="en-US" sz="1400" b="1" dirty="0"/>
              <a:t>liability</a:t>
            </a:r>
            <a:r>
              <a:rPr lang="en-US" sz="1400" dirty="0"/>
              <a:t> </a:t>
            </a:r>
            <a:br>
              <a:rPr lang="en-US" sz="1400" dirty="0"/>
            </a:br>
            <a:r>
              <a:rPr lang="en-US" altLang="zh-CN" sz="1400" kern="0" dirty="0" smtClean="0">
                <a:ea typeface="Arial Unicode MS" pitchFamily="34" charset="-128"/>
                <a:cs typeface="Arial Unicode MS" pitchFamily="34" charset="-128"/>
              </a:rPr>
              <a:t> </a:t>
            </a:r>
          </a:p>
          <a:p>
            <a:pPr marL="285750" indent="-285750" fontAlgn="base">
              <a:spcBef>
                <a:spcPts val="600"/>
              </a:spcBef>
              <a:spcAft>
                <a:spcPct val="0"/>
              </a:spcAft>
              <a:buClr>
                <a:srgbClr val="F0AB00"/>
              </a:buClr>
              <a:buSzPct val="80000"/>
              <a:buFont typeface="Arial" panose="020B0604020202020204" pitchFamily="34" charset="0"/>
              <a:buChar char="•"/>
            </a:pPr>
            <a:r>
              <a:rPr lang="en-US" altLang="zh-CN" sz="1400" kern="0" dirty="0" smtClean="0">
                <a:ea typeface="Arial Unicode MS" pitchFamily="34" charset="-128"/>
                <a:cs typeface="Arial Unicode MS" pitchFamily="34" charset="-128"/>
              </a:rPr>
              <a:t>RAR provide customer feasibility to present on POB level by active the BADI and provide default implementation</a:t>
            </a:r>
          </a:p>
          <a:p>
            <a:pPr marL="742950" lvl="1" indent="-285750" fontAlgn="base">
              <a:spcBef>
                <a:spcPts val="600"/>
              </a:spcBef>
              <a:spcAft>
                <a:spcPct val="0"/>
              </a:spcAft>
              <a:buClr>
                <a:srgbClr val="F0AB00"/>
              </a:buClr>
              <a:buSzPct val="80000"/>
              <a:buFont typeface="Arial" panose="020B0604020202020204" pitchFamily="34" charset="0"/>
              <a:buChar char="•"/>
            </a:pPr>
            <a:r>
              <a:rPr lang="en-US" altLang="zh-CN" sz="1400" kern="0" dirty="0" smtClean="0">
                <a:ea typeface="Arial Unicode MS" pitchFamily="34" charset="-128"/>
                <a:cs typeface="Arial Unicode MS" pitchFamily="34" charset="-128"/>
              </a:rPr>
              <a:t>RAR calculate the netting value on Contract level</a:t>
            </a:r>
          </a:p>
          <a:p>
            <a:pPr marL="742950" lvl="1" indent="-285750" fontAlgn="base">
              <a:spcBef>
                <a:spcPts val="600"/>
              </a:spcBef>
              <a:spcAft>
                <a:spcPct val="0"/>
              </a:spcAft>
              <a:buClr>
                <a:srgbClr val="F0AB00"/>
              </a:buClr>
              <a:buSzPct val="80000"/>
              <a:buFont typeface="Arial" panose="020B0604020202020204" pitchFamily="34" charset="0"/>
              <a:buChar char="•"/>
            </a:pPr>
            <a:r>
              <a:rPr lang="en-US" altLang="zh-CN" sz="1400" kern="0" dirty="0" smtClean="0">
                <a:ea typeface="Arial Unicode MS" pitchFamily="34" charset="-128"/>
                <a:cs typeface="Arial Unicode MS" pitchFamily="34" charset="-128"/>
              </a:rPr>
              <a:t>Default implementation is to distribute by SSP.</a:t>
            </a:r>
          </a:p>
          <a:p>
            <a:pPr marL="742950" lvl="1" indent="-285750" fontAlgn="base">
              <a:spcBef>
                <a:spcPts val="600"/>
              </a:spcBef>
              <a:spcAft>
                <a:spcPct val="0"/>
              </a:spcAft>
              <a:buClr>
                <a:srgbClr val="F0AB00"/>
              </a:buClr>
              <a:buSzPct val="80000"/>
              <a:buFont typeface="Arial" panose="020B0604020202020204" pitchFamily="34" charset="0"/>
              <a:buChar char="•"/>
            </a:pPr>
            <a:r>
              <a:rPr lang="en-US" altLang="zh-CN" sz="1400" kern="0" dirty="0" smtClean="0">
                <a:ea typeface="Arial Unicode MS" pitchFamily="34" charset="-128"/>
                <a:cs typeface="Arial Unicode MS" pitchFamily="34" charset="-128"/>
              </a:rPr>
              <a:t>Can be overwritten</a:t>
            </a:r>
          </a:p>
        </p:txBody>
      </p:sp>
    </p:spTree>
    <p:extLst>
      <p:ext uri="{BB962C8B-B14F-4D97-AF65-F5344CB8AC3E}">
        <p14:creationId xmlns:p14="http://schemas.microsoft.com/office/powerpoint/2010/main" val="22814707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t>An Example</a:t>
            </a:r>
            <a:br>
              <a:rPr lang="en-US" sz="1800" dirty="0" smtClean="0"/>
            </a:br>
            <a:r>
              <a:rPr lang="en-US" sz="1200" dirty="0" smtClean="0"/>
              <a:t>TRG Discussion of October 2014</a:t>
            </a:r>
            <a:endParaRPr lang="en-US" sz="1200" dirty="0"/>
          </a:p>
        </p:txBody>
      </p:sp>
      <p:sp>
        <p:nvSpPr>
          <p:cNvPr id="4" name="TextBox 3"/>
          <p:cNvSpPr txBox="1"/>
          <p:nvPr/>
        </p:nvSpPr>
        <p:spPr>
          <a:xfrm>
            <a:off x="324000" y="1318022"/>
            <a:ext cx="8637120" cy="153888"/>
          </a:xfrm>
          <a:prstGeom prst="rect">
            <a:avLst/>
          </a:prstGeom>
          <a:noFill/>
        </p:spPr>
        <p:txBody>
          <a:bodyPr wrap="square" lIns="0" tIns="0" rIns="0" bIns="0" rtlCol="0">
            <a:spAutoFit/>
          </a:bodyPr>
          <a:lstStyle/>
          <a:p>
            <a:endParaRPr lang="en-US" sz="1000" dirty="0"/>
          </a:p>
        </p:txBody>
      </p:sp>
      <p:sp>
        <p:nvSpPr>
          <p:cNvPr id="8" name="TextBox 7"/>
          <p:cNvSpPr txBox="1"/>
          <p:nvPr/>
        </p:nvSpPr>
        <p:spPr>
          <a:xfrm>
            <a:off x="190831" y="1334843"/>
            <a:ext cx="8770289" cy="5124480"/>
          </a:xfrm>
          <a:prstGeom prst="rect">
            <a:avLst/>
          </a:prstGeom>
          <a:noFill/>
        </p:spPr>
        <p:txBody>
          <a:bodyPr wrap="square" lIns="0" tIns="0" rIns="0" bIns="0" rtlCol="0">
            <a:spAutoFit/>
          </a:bodyPr>
          <a:lstStyle/>
          <a:p>
            <a:r>
              <a:rPr lang="en-US" sz="900" dirty="0" smtClean="0"/>
              <a:t>As </a:t>
            </a:r>
            <a:r>
              <a:rPr lang="en-US" sz="900" dirty="0"/>
              <a:t>a result of combining 4 contracts, an entity accounts for a contract that consists of 4 distinct performance obligations where each performance obligation has its own billing schedule. Accordingly, invoicing, amounts becoming due and payments are all made at the level of the performance obligations within the contract. As a result, each performance obligation within the contract has a net position at any given time. For simplicity, assume that amounts become due upon issuance of the invoice. </a:t>
            </a:r>
          </a:p>
          <a:p>
            <a:r>
              <a:rPr lang="en-US" sz="900" dirty="0"/>
              <a:t>How is the net position of the </a:t>
            </a:r>
            <a:r>
              <a:rPr lang="en-US" sz="900" u="sng" dirty="0"/>
              <a:t>contract</a:t>
            </a:r>
            <a:r>
              <a:rPr lang="en-US" sz="900" dirty="0"/>
              <a:t> determined and presented on the balance sheet</a:t>
            </a:r>
            <a:r>
              <a:rPr lang="en-US" sz="900" dirty="0" smtClean="0"/>
              <a:t>?</a:t>
            </a:r>
          </a:p>
          <a:p>
            <a:endParaRPr lang="en-US" sz="900" dirty="0"/>
          </a:p>
          <a:p>
            <a:endParaRPr lang="en-US" sz="900" dirty="0" smtClean="0"/>
          </a:p>
          <a:p>
            <a:endParaRPr lang="en-US" sz="900" dirty="0"/>
          </a:p>
          <a:p>
            <a:endParaRPr lang="en-US" sz="900" dirty="0" smtClean="0"/>
          </a:p>
          <a:p>
            <a:endParaRPr lang="en-US" sz="900" dirty="0"/>
          </a:p>
          <a:p>
            <a:endParaRPr lang="en-US" sz="900" dirty="0" smtClean="0"/>
          </a:p>
          <a:p>
            <a:endParaRPr lang="en-US" sz="900" dirty="0"/>
          </a:p>
          <a:p>
            <a:endParaRPr lang="en-US" sz="900" dirty="0" smtClean="0"/>
          </a:p>
          <a:p>
            <a:endParaRPr lang="en-US" sz="900" dirty="0"/>
          </a:p>
          <a:p>
            <a:endParaRPr lang="en-US" sz="900" dirty="0" smtClean="0"/>
          </a:p>
          <a:p>
            <a:endParaRPr lang="en-US" sz="900" dirty="0" smtClean="0"/>
          </a:p>
          <a:p>
            <a:endParaRPr lang="en-US" sz="900" dirty="0" smtClean="0"/>
          </a:p>
          <a:p>
            <a:r>
              <a:rPr lang="en-US" sz="900" dirty="0" smtClean="0"/>
              <a:t>The </a:t>
            </a:r>
            <a:r>
              <a:rPr lang="en-US" sz="900" dirty="0"/>
              <a:t>entity concludes that it has a receivable (present right to payment that is unconditional) of 390 € based on paragraph 108 of IFRS 15.</a:t>
            </a:r>
          </a:p>
          <a:p>
            <a:r>
              <a:rPr lang="en-US" sz="900" dirty="0"/>
              <a:t>With regards to the presentation of contract assets and contract liabilities, there are 2 possible views</a:t>
            </a:r>
            <a:r>
              <a:rPr lang="en-US" sz="900" dirty="0" smtClean="0"/>
              <a:t>:</a:t>
            </a:r>
          </a:p>
          <a:p>
            <a:endParaRPr lang="en-US" sz="900" dirty="0"/>
          </a:p>
          <a:p>
            <a:r>
              <a:rPr lang="en-US" sz="900" b="1" dirty="0"/>
              <a:t>View A – offsetting of contract asset and contract liability within the contract</a:t>
            </a:r>
          </a:p>
          <a:p>
            <a:r>
              <a:rPr lang="en-US" sz="900" dirty="0"/>
              <a:t>Based on this view the entity offsets the contract asset (45 €) and contract liability (-10 €) within the contract and presents a </a:t>
            </a:r>
            <a:r>
              <a:rPr lang="en-US" sz="900" u="sng" dirty="0"/>
              <a:t>(net) contract asset of 35 €</a:t>
            </a:r>
            <a:r>
              <a:rPr lang="en-US" sz="900" dirty="0"/>
              <a:t>. The entity argues that IFRS 15 (BC 317) requires a net presentation of the remaining rights and performance obligations in a contract and the offsetting of contract asset positions and contract liability positions within a contract best achieves that requirement. Further, the entity argues that the unit of account is the contract as explained in BC 72: “The boards decided that entering into contracts at or near the same time is a necessary condition for the contracts to be combined. That decision is consistent with the objective of identifying the contract that is to be accounted for as the unit of account because that assessment is also performed at contract inception. “</a:t>
            </a:r>
          </a:p>
          <a:p>
            <a:r>
              <a:rPr lang="en-US" sz="900" dirty="0"/>
              <a:t> </a:t>
            </a:r>
          </a:p>
          <a:p>
            <a:r>
              <a:rPr lang="en-US" sz="900" b="1" dirty="0"/>
              <a:t>View B – no offsetting within the contract</a:t>
            </a:r>
          </a:p>
          <a:p>
            <a:r>
              <a:rPr lang="en-US" sz="900" dirty="0"/>
              <a:t>Based on this view the entity presents a contract asset of 45 € and a contract liability of 10 € on the balance sheet. The entity argues that when looking at each performance obligation individually, each fulfills the respective definitions: for performance obligations 1 and 2 the entity has a right to consideration in exchange for goods and services that the entity has transferred and that right is conditioned on something other than the passage of time (for example, the entity’s future performance). In the example above, the entity must first fulfill performance obligation 3 for the amount of 45 € to become unconditional, i.e. a receivable. Similarly, performance obligation 3 is in a contract liability position of 10 € and that amount reflects the entity’s obligation to transfer goods or services for which the entity has received consideration. The entity argues that the unit of account is the performance obligation based on the explanation in BC 85: “The boards’ objective in developing the definition of a performance obligation was to ensure that entities appropriately identify the unit of account for the goods and services promised in a contract with a customer. The boards decided that because the revenue recognition model is an allocated transaction price model, identifying a meaningful unit of account that depicts the goods and services in the contract is fundamental for the purpose of </a:t>
            </a:r>
            <a:r>
              <a:rPr lang="en-US" sz="900" dirty="0" err="1"/>
              <a:t>recognising</a:t>
            </a:r>
            <a:r>
              <a:rPr lang="en-US" sz="900" dirty="0"/>
              <a:t> revenue on a basis that faithfully depicts the entity’s performance in transferring the promised goods or services to the customer.” </a:t>
            </a:r>
          </a:p>
        </p:txBody>
      </p:sp>
      <p:graphicFrame>
        <p:nvGraphicFramePr>
          <p:cNvPr id="9" name="Table 8"/>
          <p:cNvGraphicFramePr>
            <a:graphicFrameLocks noGrp="1"/>
          </p:cNvGraphicFramePr>
          <p:nvPr>
            <p:extLst/>
          </p:nvPr>
        </p:nvGraphicFramePr>
        <p:xfrm>
          <a:off x="323998" y="2037983"/>
          <a:ext cx="8414482" cy="1296924"/>
        </p:xfrm>
        <a:graphic>
          <a:graphicData uri="http://schemas.openxmlformats.org/drawingml/2006/table">
            <a:tbl>
              <a:tblPr firstRow="1" firstCol="1" bandRow="1">
                <a:tableStyleId>{69C7853C-536D-4A76-A0AE-DD22124D55A5}</a:tableStyleId>
              </a:tblPr>
              <a:tblGrid>
                <a:gridCol w="910412"/>
                <a:gridCol w="811184"/>
                <a:gridCol w="845086"/>
                <a:gridCol w="848394"/>
                <a:gridCol w="893873"/>
                <a:gridCol w="821106"/>
                <a:gridCol w="585442"/>
                <a:gridCol w="471331"/>
                <a:gridCol w="703687"/>
                <a:gridCol w="820280"/>
                <a:gridCol w="703687"/>
              </a:tblGrid>
              <a:tr h="0">
                <a:tc>
                  <a:txBody>
                    <a:bodyPr/>
                    <a:lstStyle/>
                    <a:p>
                      <a:pPr algn="r">
                        <a:lnSpc>
                          <a:spcPct val="115000"/>
                        </a:lnSpc>
                        <a:spcAft>
                          <a:spcPts val="0"/>
                        </a:spcAft>
                      </a:pPr>
                      <a:r>
                        <a:rPr lang="en-US" sz="800" dirty="0">
                          <a:effectLst/>
                        </a:rPr>
                        <a:t>Performance Obligation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Contractual Price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Allocated Transaction Price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Progress Towards Completion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Recognized Revenue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Future (remaining) Revenue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Billed and Due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Paid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Contract Asset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Receivable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0"/>
                        </a:spcAft>
                      </a:pPr>
                      <a:r>
                        <a:rPr lang="en-US" sz="800">
                          <a:effectLst/>
                        </a:rPr>
                        <a:t>Contract Liability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gn="r">
                        <a:lnSpc>
                          <a:spcPct val="115000"/>
                        </a:lnSpc>
                        <a:spcAft>
                          <a:spcPts val="0"/>
                        </a:spcAft>
                      </a:pPr>
                      <a:r>
                        <a:rPr lang="en-US" sz="1000">
                          <a:effectLst/>
                        </a:rPr>
                        <a:t>POB1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150 €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dirty="0">
                          <a:effectLst/>
                        </a:rPr>
                        <a:t>80%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120 €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80 €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40 €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80 €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0">
                <a:tc>
                  <a:txBody>
                    <a:bodyPr/>
                    <a:lstStyle/>
                    <a:p>
                      <a:pPr algn="r">
                        <a:lnSpc>
                          <a:spcPct val="115000"/>
                        </a:lnSpc>
                        <a:spcAft>
                          <a:spcPts val="0"/>
                        </a:spcAft>
                      </a:pPr>
                      <a:r>
                        <a:rPr lang="en-US" sz="1000">
                          <a:effectLst/>
                        </a:rPr>
                        <a:t>POB2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150 €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15 €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135 €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5 €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0">
                <a:tc>
                  <a:txBody>
                    <a:bodyPr/>
                    <a:lstStyle/>
                    <a:p>
                      <a:pPr algn="r">
                        <a:lnSpc>
                          <a:spcPct val="115000"/>
                        </a:lnSpc>
                        <a:spcAft>
                          <a:spcPts val="0"/>
                        </a:spcAft>
                      </a:pPr>
                      <a:r>
                        <a:rPr lang="en-US" sz="1000">
                          <a:effectLst/>
                        </a:rPr>
                        <a:t>POB3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200 €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200 €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0">
                <a:tc>
                  <a:txBody>
                    <a:bodyPr/>
                    <a:lstStyle/>
                    <a:p>
                      <a:pPr algn="r">
                        <a:lnSpc>
                          <a:spcPct val="115000"/>
                        </a:lnSpc>
                        <a:spcAft>
                          <a:spcPts val="0"/>
                        </a:spcAft>
                      </a:pPr>
                      <a:r>
                        <a:rPr lang="en-US" sz="1000">
                          <a:effectLst/>
                        </a:rPr>
                        <a:t>POB4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100%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a:effectLst/>
                        </a:rPr>
                        <a:t>300 €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15000"/>
                        </a:lnSpc>
                        <a:spcAft>
                          <a:spcPts val="0"/>
                        </a:spcAft>
                      </a:pPr>
                      <a:r>
                        <a:rPr lang="en-US" sz="10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0">
                <a:tc>
                  <a:txBody>
                    <a:bodyPr/>
                    <a:lstStyle/>
                    <a:p>
                      <a:pPr algn="r">
                        <a:lnSpc>
                          <a:spcPct val="115000"/>
                        </a:lnSpc>
                        <a:spcAft>
                          <a:spcPts val="0"/>
                        </a:spcAft>
                      </a:pPr>
                      <a:r>
                        <a:rPr lang="en-US" sz="10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800 €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800 €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435 €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365 €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400 €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10 €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45 €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390 €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15000"/>
                        </a:lnSpc>
                        <a:spcAft>
                          <a:spcPts val="0"/>
                        </a:spcAft>
                      </a:pPr>
                      <a:r>
                        <a:rPr lang="en-US" sz="1000" b="1" dirty="0">
                          <a:effectLst/>
                        </a:rPr>
                        <a:t>-10 €</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bl>
          </a:graphicData>
        </a:graphic>
      </p:graphicFrame>
      <p:pic>
        <p:nvPicPr>
          <p:cNvPr id="10" name="Picture 9" descr="SAP_grad_R_pref.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48153" y="468302"/>
            <a:ext cx="916953" cy="421937"/>
          </a:xfrm>
          <a:prstGeom prst="rect">
            <a:avLst/>
          </a:prstGeom>
        </p:spPr>
      </p:pic>
      <p:sp>
        <p:nvSpPr>
          <p:cNvPr id="11" name="Freeform 10"/>
          <p:cNvSpPr/>
          <p:nvPr/>
        </p:nvSpPr>
        <p:spPr bwMode="gray">
          <a:xfrm>
            <a:off x="3864334" y="620202"/>
            <a:ext cx="286247" cy="318116"/>
          </a:xfrm>
          <a:custGeom>
            <a:avLst/>
            <a:gdLst>
              <a:gd name="connsiteX0" fmla="*/ 0 w 286247"/>
              <a:gd name="connsiteY0" fmla="*/ 0 h 318116"/>
              <a:gd name="connsiteX1" fmla="*/ 39756 w 286247"/>
              <a:gd name="connsiteY1" fmla="*/ 39756 h 318116"/>
              <a:gd name="connsiteX2" fmla="*/ 79513 w 286247"/>
              <a:gd name="connsiteY2" fmla="*/ 95415 h 318116"/>
              <a:gd name="connsiteX3" fmla="*/ 103367 w 286247"/>
              <a:gd name="connsiteY3" fmla="*/ 119269 h 318116"/>
              <a:gd name="connsiteX4" fmla="*/ 119269 w 286247"/>
              <a:gd name="connsiteY4" fmla="*/ 143123 h 318116"/>
              <a:gd name="connsiteX5" fmla="*/ 166977 w 286247"/>
              <a:gd name="connsiteY5" fmla="*/ 190831 h 318116"/>
              <a:gd name="connsiteX6" fmla="*/ 206734 w 286247"/>
              <a:gd name="connsiteY6" fmla="*/ 230588 h 318116"/>
              <a:gd name="connsiteX7" fmla="*/ 222636 w 286247"/>
              <a:gd name="connsiteY7" fmla="*/ 254441 h 318116"/>
              <a:gd name="connsiteX8" fmla="*/ 270344 w 286247"/>
              <a:gd name="connsiteY8" fmla="*/ 294198 h 318116"/>
              <a:gd name="connsiteX9" fmla="*/ 286247 w 286247"/>
              <a:gd name="connsiteY9" fmla="*/ 318052 h 31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247" h="318116">
                <a:moveTo>
                  <a:pt x="0" y="0"/>
                </a:moveTo>
                <a:cubicBezTo>
                  <a:pt x="13252" y="13252"/>
                  <a:pt x="27305" y="25749"/>
                  <a:pt x="39756" y="39756"/>
                </a:cubicBezTo>
                <a:cubicBezTo>
                  <a:pt x="116143" y="125691"/>
                  <a:pt x="22511" y="27014"/>
                  <a:pt x="79513" y="95415"/>
                </a:cubicBezTo>
                <a:cubicBezTo>
                  <a:pt x="86712" y="104054"/>
                  <a:pt x="96168" y="110630"/>
                  <a:pt x="103367" y="119269"/>
                </a:cubicBezTo>
                <a:cubicBezTo>
                  <a:pt x="109485" y="126610"/>
                  <a:pt x="112920" y="135981"/>
                  <a:pt x="119269" y="143123"/>
                </a:cubicBezTo>
                <a:cubicBezTo>
                  <a:pt x="134210" y="159932"/>
                  <a:pt x="154502" y="172119"/>
                  <a:pt x="166977" y="190831"/>
                </a:cubicBezTo>
                <a:cubicBezTo>
                  <a:pt x="188181" y="222636"/>
                  <a:pt x="174929" y="209384"/>
                  <a:pt x="206734" y="230588"/>
                </a:cubicBezTo>
                <a:cubicBezTo>
                  <a:pt x="212035" y="238539"/>
                  <a:pt x="216518" y="247100"/>
                  <a:pt x="222636" y="254441"/>
                </a:cubicBezTo>
                <a:cubicBezTo>
                  <a:pt x="241768" y="277399"/>
                  <a:pt x="246889" y="278561"/>
                  <a:pt x="270344" y="294198"/>
                </a:cubicBezTo>
                <a:cubicBezTo>
                  <a:pt x="279134" y="320566"/>
                  <a:pt x="269914" y="318052"/>
                  <a:pt x="286247" y="318052"/>
                </a:cubicBezTo>
              </a:path>
            </a:pathLst>
          </a:custGeom>
          <a:noFill/>
          <a:ln w="6350" algn="ctr">
            <a:noFill/>
            <a:miter lim="800000"/>
            <a:headEnd/>
            <a:tailEnd/>
          </a:ln>
        </p:spPr>
        <p:txBody>
          <a:bodyPr rtlCol="0" anchor="ctr"/>
          <a:lstStyle/>
          <a:p>
            <a:pPr algn="ctr"/>
            <a:endParaRPr lang="en-US">
              <a:ln w="0"/>
              <a:effectLst>
                <a:outerShdw blurRad="38100" dist="19050" dir="2700000" algn="tl" rotWithShape="0">
                  <a:schemeClr val="dk1">
                    <a:alpha val="40000"/>
                  </a:schemeClr>
                </a:outerShdw>
              </a:effectLst>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7544" y="3786093"/>
            <a:ext cx="288911" cy="221980"/>
          </a:xfrm>
          <a:prstGeom prst="rect">
            <a:avLst/>
          </a:prstGeom>
        </p:spPr>
      </p:pic>
      <p:sp>
        <p:nvSpPr>
          <p:cNvPr id="15" name="Rectangle 14"/>
          <p:cNvSpPr/>
          <p:nvPr/>
        </p:nvSpPr>
        <p:spPr>
          <a:xfrm>
            <a:off x="2510794" y="4688867"/>
            <a:ext cx="223035" cy="461665"/>
          </a:xfrm>
          <a:prstGeom prst="rect">
            <a:avLst/>
          </a:prstGeom>
          <a:noFill/>
        </p:spPr>
        <p:txBody>
          <a:bodyPr wrap="square" lIns="91440" tIns="45720" rIns="91440" bIns="45720">
            <a:spAutoFit/>
          </a:bodyPr>
          <a:lstStyle/>
          <a:p>
            <a:pPr algn="ctr"/>
            <a:r>
              <a:rPr lang="en-US" sz="2400" b="1" cap="none" spc="0" dirty="0" smtClean="0">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rPr>
              <a:t>X</a:t>
            </a:r>
            <a:endParaRPr lang="en-US" sz="2400" b="1" cap="none" spc="0" dirty="0">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8633" y="296233"/>
            <a:ext cx="288911" cy="221980"/>
          </a:xfrm>
          <a:prstGeom prst="rect">
            <a:avLst/>
          </a:prstGeom>
        </p:spPr>
      </p:pic>
      <p:sp>
        <p:nvSpPr>
          <p:cNvPr id="13" name="Rectangle 12"/>
          <p:cNvSpPr/>
          <p:nvPr/>
        </p:nvSpPr>
        <p:spPr>
          <a:xfrm>
            <a:off x="4157113" y="669919"/>
            <a:ext cx="223035" cy="461665"/>
          </a:xfrm>
          <a:prstGeom prst="rect">
            <a:avLst/>
          </a:prstGeom>
          <a:noFill/>
        </p:spPr>
        <p:txBody>
          <a:bodyPr wrap="square" lIns="91440" tIns="45720" rIns="91440" bIns="45720">
            <a:spAutoFit/>
          </a:bodyPr>
          <a:lstStyle/>
          <a:p>
            <a:pPr algn="ctr"/>
            <a:r>
              <a:rPr lang="en-US" sz="2400" b="1" cap="none" spc="0" dirty="0" smtClean="0">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rPr>
              <a:t>X</a:t>
            </a:r>
            <a:endParaRPr lang="en-US" sz="2400" b="1" cap="none" spc="0" dirty="0">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endParaRPr>
          </a:p>
        </p:txBody>
      </p:sp>
      <p:sp>
        <p:nvSpPr>
          <p:cNvPr id="3" name="TextBox 2"/>
          <p:cNvSpPr txBox="1"/>
          <p:nvPr/>
        </p:nvSpPr>
        <p:spPr>
          <a:xfrm>
            <a:off x="4571999" y="314890"/>
            <a:ext cx="1820848" cy="184666"/>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200" kern="0" dirty="0" smtClean="0">
                <a:ea typeface="Arial Unicode MS" pitchFamily="34" charset="-128"/>
                <a:cs typeface="Arial Unicode MS" pitchFamily="34" charset="-128"/>
              </a:rPr>
              <a:t>= confirmed by the TRG</a:t>
            </a:r>
          </a:p>
        </p:txBody>
      </p:sp>
      <p:sp>
        <p:nvSpPr>
          <p:cNvPr id="16" name="TextBox 15"/>
          <p:cNvSpPr txBox="1"/>
          <p:nvPr/>
        </p:nvSpPr>
        <p:spPr>
          <a:xfrm>
            <a:off x="4567622" y="808418"/>
            <a:ext cx="1820848" cy="184666"/>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200" kern="0" dirty="0" smtClean="0">
                <a:ea typeface="Arial Unicode MS" pitchFamily="34" charset="-128"/>
                <a:cs typeface="Arial Unicode MS" pitchFamily="34" charset="-128"/>
              </a:rPr>
              <a:t>= declined by the TRG</a:t>
            </a:r>
          </a:p>
        </p:txBody>
      </p:sp>
      <p:sp>
        <p:nvSpPr>
          <p:cNvPr id="5" name="Oval 4"/>
          <p:cNvSpPr/>
          <p:nvPr/>
        </p:nvSpPr>
        <p:spPr bwMode="gray">
          <a:xfrm>
            <a:off x="6761233" y="3070265"/>
            <a:ext cx="506028" cy="346229"/>
          </a:xfrm>
          <a:prstGeom prst="ellipse">
            <a:avLst/>
          </a:prstGeom>
          <a:noFill/>
          <a:ln w="38100" algn="ctr">
            <a:solidFill>
              <a:schemeClr val="accent6">
                <a:lumMod val="60000"/>
                <a:lumOff val="40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17" name="Oval 16"/>
          <p:cNvSpPr/>
          <p:nvPr/>
        </p:nvSpPr>
        <p:spPr bwMode="gray">
          <a:xfrm>
            <a:off x="8259078" y="3075650"/>
            <a:ext cx="506028" cy="346229"/>
          </a:xfrm>
          <a:prstGeom prst="ellipse">
            <a:avLst/>
          </a:prstGeom>
          <a:noFill/>
          <a:ln w="38100" algn="ctr">
            <a:solidFill>
              <a:schemeClr val="accent6">
                <a:lumMod val="60000"/>
                <a:lumOff val="40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5841035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SAP_2016_4x3_whit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b="0" i="0" u="none" strike="noStrike" kern="0" cap="none" spc="0" normalizeH="0" baseline="0" noProof="0" dirty="0"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4x3_white.pptx" id="{D910AF12-926D-47EF-A649-C83652429031}" vid="{9756C12F-8D62-471F-B969-96B96609614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SAP_2016_4x3_white</Template>
  <TotalTime>472</TotalTime>
  <Words>749</Words>
  <Application>Microsoft Office PowerPoint</Application>
  <PresentationFormat>On-screen Show (4:3)</PresentationFormat>
  <Paragraphs>175</Paragraphs>
  <Slides>8</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Arial Unicode MS</vt:lpstr>
      <vt:lpstr>Arial</vt:lpstr>
      <vt:lpstr>Calibri</vt:lpstr>
      <vt:lpstr>Courier New</vt:lpstr>
      <vt:lpstr>Symbol</vt:lpstr>
      <vt:lpstr>Times New Roman</vt:lpstr>
      <vt:lpstr>Wingdings</vt:lpstr>
      <vt:lpstr>Wingdings</vt:lpstr>
      <vt:lpstr>SAP_2016_4x3_white</vt:lpstr>
      <vt:lpstr>Contract Liability, Contract Asset and Receivable</vt:lpstr>
      <vt:lpstr>Agenda</vt:lpstr>
      <vt:lpstr>Contract Asset</vt:lpstr>
      <vt:lpstr>Recognizing Receivable at Invoice Due</vt:lpstr>
      <vt:lpstr>Distribute CL/CA</vt:lpstr>
      <vt:lpstr>An Example TRG Discussion of October 2014</vt:lpstr>
      <vt:lpstr>PowerPoint Presentation</vt:lpstr>
      <vt:lpstr>PowerPoint Presentation</vt:lpstr>
    </vt:vector>
  </TitlesOfParts>
  <Company>SAP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Presentation Title</dc:title>
  <dc:creator>Fang, Xin</dc:creator>
  <cp:keywords>2016/4:3</cp:keywords>
  <cp:lastModifiedBy>Fang, Xin</cp:lastModifiedBy>
  <cp:revision>26</cp:revision>
  <dcterms:created xsi:type="dcterms:W3CDTF">2016-11-22T01:49:33Z</dcterms:created>
  <dcterms:modified xsi:type="dcterms:W3CDTF">2016-12-30T05:19:08Z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